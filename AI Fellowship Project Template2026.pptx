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F22293-08EC-454F-99BA-702F1FECF25F}" v="3" dt="2026-04-10T16:45:41.4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r Nadkar" userId="d9c36d53dd1cdb9d" providerId="LiveId" clId="{A4A18001-902C-4F19-8A33-A38863307143}"/>
    <pc:docChg chg="undo custSel modSld sldOrd">
      <pc:chgData name="Amar Nadkar" userId="d9c36d53dd1cdb9d" providerId="LiveId" clId="{A4A18001-902C-4F19-8A33-A38863307143}" dt="2026-04-10T18:29:24.812" v="197"/>
      <pc:docMkLst>
        <pc:docMk/>
      </pc:docMkLst>
      <pc:sldChg chg="modSp mod">
        <pc:chgData name="Amar Nadkar" userId="d9c36d53dd1cdb9d" providerId="LiveId" clId="{A4A18001-902C-4F19-8A33-A38863307143}" dt="2026-04-10T14:35:24.051" v="181" actId="20577"/>
        <pc:sldMkLst>
          <pc:docMk/>
          <pc:sldMk cId="0" sldId="256"/>
        </pc:sldMkLst>
        <pc:spChg chg="mod">
          <ac:chgData name="Amar Nadkar" userId="d9c36d53dd1cdb9d" providerId="LiveId" clId="{A4A18001-902C-4F19-8A33-A38863307143}" dt="2026-04-10T14:35:24.051" v="181" actId="20577"/>
          <ac:spMkLst>
            <pc:docMk/>
            <pc:sldMk cId="0" sldId="256"/>
            <ac:spMk id="12" creationId="{00000000-0000-0000-0000-000000000000}"/>
          </ac:spMkLst>
        </pc:spChg>
      </pc:sldChg>
      <pc:sldChg chg="addSp modSp mod chgLayout">
        <pc:chgData name="Amar Nadkar" userId="d9c36d53dd1cdb9d" providerId="LiveId" clId="{A4A18001-902C-4F19-8A33-A38863307143}" dt="2026-04-10T15:35:36.962" v="184" actId="14100"/>
        <pc:sldMkLst>
          <pc:docMk/>
          <pc:sldMk cId="0" sldId="262"/>
        </pc:sldMkLst>
        <pc:spChg chg="mod">
          <ac:chgData name="Amar Nadkar" userId="d9c36d53dd1cdb9d" providerId="LiveId" clId="{A4A18001-902C-4F19-8A33-A38863307143}" dt="2026-04-10T11:01:28.434" v="91" actId="20577"/>
          <ac:spMkLst>
            <pc:docMk/>
            <pc:sldMk cId="0" sldId="262"/>
            <ac:spMk id="21" creationId="{00000000-0000-0000-0000-000000000000}"/>
          </ac:spMkLst>
        </pc:spChg>
        <pc:picChg chg="mod">
          <ac:chgData name="Amar Nadkar" userId="d9c36d53dd1cdb9d" providerId="LiveId" clId="{A4A18001-902C-4F19-8A33-A38863307143}" dt="2026-04-10T15:34:55.329" v="183" actId="14100"/>
          <ac:picMkLst>
            <pc:docMk/>
            <pc:sldMk cId="0" sldId="262"/>
            <ac:picMk id="23" creationId="{A107BA91-BED1-8A95-D758-A999EF745F62}"/>
          </ac:picMkLst>
        </pc:picChg>
        <pc:picChg chg="add mod">
          <ac:chgData name="Amar Nadkar" userId="d9c36d53dd1cdb9d" providerId="LiveId" clId="{A4A18001-902C-4F19-8A33-A38863307143}" dt="2026-04-10T15:35:36.962" v="184" actId="14100"/>
          <ac:picMkLst>
            <pc:docMk/>
            <pc:sldMk cId="0" sldId="262"/>
            <ac:picMk id="25" creationId="{316571C0-BBEF-417E-02BD-9A960888FFAB}"/>
          </ac:picMkLst>
        </pc:picChg>
      </pc:sldChg>
      <pc:sldChg chg="addSp delSp modSp mod ord delAnim modAnim">
        <pc:chgData name="Amar Nadkar" userId="d9c36d53dd1cdb9d" providerId="LiveId" clId="{A4A18001-902C-4F19-8A33-A38863307143}" dt="2026-04-10T18:29:24.812" v="197"/>
        <pc:sldMkLst>
          <pc:docMk/>
          <pc:sldMk cId="0" sldId="263"/>
        </pc:sldMkLst>
        <pc:picChg chg="add mod">
          <ac:chgData name="Amar Nadkar" userId="d9c36d53dd1cdb9d" providerId="LiveId" clId="{A4A18001-902C-4F19-8A33-A38863307143}" dt="2026-04-10T16:39:09.680" v="192"/>
          <ac:picMkLst>
            <pc:docMk/>
            <pc:sldMk cId="0" sldId="263"/>
            <ac:picMk id="16" creationId="{7BA90296-DBBC-F7D7-F517-03BE3618805C}"/>
          </ac:picMkLst>
        </pc:picChg>
        <pc:picChg chg="add del mod">
          <ac:chgData name="Amar Nadkar" userId="d9c36d53dd1cdb9d" providerId="LiveId" clId="{A4A18001-902C-4F19-8A33-A38863307143}" dt="2026-04-10T16:45:51.887" v="195" actId="21"/>
          <ac:picMkLst>
            <pc:docMk/>
            <pc:sldMk cId="0" sldId="263"/>
            <ac:picMk id="17" creationId="{85797573-7D01-12CD-7E3A-DE1817FF605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FFFFF"/>
          </a:solidFill>
          <a:ln/>
        </p:spPr>
      </p:sp>
      <p:sp>
        <p:nvSpPr>
          <p:cNvPr id="3" name="Shape 1"/>
          <p:cNvSpPr/>
          <p:nvPr/>
        </p:nvSpPr>
        <p:spPr>
          <a:xfrm>
            <a:off x="320040" y="91440"/>
            <a:ext cx="4572000" cy="502920"/>
          </a:xfrm>
          <a:prstGeom prst="rect">
            <a:avLst/>
          </a:prstGeom>
          <a:solidFill>
            <a:srgbClr val="FFFFFF"/>
          </a:solidFill>
          <a:ln w="12700">
            <a:solidFill>
              <a:srgbClr val="CCCCCC"/>
            </a:solidFill>
            <a:prstDash val="solid"/>
          </a:ln>
        </p:spPr>
      </p:sp>
      <p:sp>
        <p:nvSpPr>
          <p:cNvPr id="4" name="Text 2"/>
          <p:cNvSpPr/>
          <p:nvPr/>
        </p:nvSpPr>
        <p:spPr>
          <a:xfrm>
            <a:off x="365760" y="137160"/>
            <a:ext cx="4480560" cy="411480"/>
          </a:xfrm>
          <a:prstGeom prst="rect">
            <a:avLst/>
          </a:prstGeom>
          <a:noFill/>
          <a:ln/>
        </p:spPr>
        <p:txBody>
          <a:bodyPr wrap="square" rtlCol="0" anchor="ctr"/>
          <a:lstStyle/>
          <a:p>
            <a:pPr marL="0" indent="0">
              <a:buNone/>
            </a:pPr>
            <a:r>
              <a:rPr lang="en-US" sz="950">
                <a:solidFill>
                  <a:srgbClr val="607D8B"/>
                </a:solidFill>
                <a:latin typeface="Calibri" pitchFamily="34" charset="0"/>
                <a:ea typeface="Calibri" pitchFamily="34" charset="-122"/>
                <a:cs typeface="Calibri" pitchFamily="34" charset="-120"/>
              </a:rPr>
              <a:t> LinkedIn  </a:t>
            </a:r>
            <a:r>
              <a:rPr lang="en-US" sz="950" err="1">
                <a:solidFill>
                  <a:srgbClr val="607D8B"/>
                </a:solidFill>
                <a:latin typeface="Calibri" pitchFamily="34" charset="0"/>
                <a:ea typeface="Calibri" pitchFamily="34" charset="-122"/>
                <a:cs typeface="Calibri" pitchFamily="34" charset="-120"/>
              </a:rPr>
              <a:t>Edunet</a:t>
            </a:r>
            <a:r>
              <a:rPr lang="en-US" sz="950">
                <a:solidFill>
                  <a:srgbClr val="607D8B"/>
                </a:solidFill>
                <a:latin typeface="Calibri" pitchFamily="34" charset="0"/>
                <a:ea typeface="Calibri" pitchFamily="34" charset="-122"/>
                <a:cs typeface="Calibri" pitchFamily="34" charset="-120"/>
              </a:rPr>
              <a:t>   </a:t>
            </a:r>
            <a:endParaRPr lang="en-US" sz="950"/>
          </a:p>
        </p:txBody>
      </p:sp>
      <p:sp>
        <p:nvSpPr>
          <p:cNvPr id="5" name="Shape 3"/>
          <p:cNvSpPr/>
          <p:nvPr/>
        </p:nvSpPr>
        <p:spPr>
          <a:xfrm>
            <a:off x="5943600" y="0"/>
            <a:ext cx="3200400" cy="5143500"/>
          </a:xfrm>
          <a:prstGeom prst="rect">
            <a:avLst/>
          </a:prstGeom>
          <a:solidFill>
            <a:srgbClr val="1B3A8A"/>
          </a:solidFill>
          <a:ln/>
        </p:spPr>
      </p:sp>
      <p:sp>
        <p:nvSpPr>
          <p:cNvPr id="6" name="Shape 4"/>
          <p:cNvSpPr/>
          <p:nvPr/>
        </p:nvSpPr>
        <p:spPr>
          <a:xfrm>
            <a:off x="5486400" y="0"/>
            <a:ext cx="502920" cy="5143500"/>
          </a:xfrm>
          <a:prstGeom prst="rect">
            <a:avLst/>
          </a:prstGeom>
          <a:solidFill>
            <a:srgbClr val="1565C0"/>
          </a:solidFill>
          <a:ln/>
        </p:spPr>
      </p:sp>
      <p:sp>
        <p:nvSpPr>
          <p:cNvPr id="9" name="Shape 7"/>
          <p:cNvSpPr/>
          <p:nvPr/>
        </p:nvSpPr>
        <p:spPr>
          <a:xfrm>
            <a:off x="6126480" y="3108960"/>
            <a:ext cx="2834640" cy="109728"/>
          </a:xfrm>
          <a:prstGeom prst="rect">
            <a:avLst/>
          </a:prstGeom>
          <a:solidFill>
            <a:srgbClr val="4FC3F7"/>
          </a:solidFill>
          <a:ln/>
        </p:spPr>
      </p:sp>
      <p:sp>
        <p:nvSpPr>
          <p:cNvPr id="10" name="Shape 8"/>
          <p:cNvSpPr/>
          <p:nvPr/>
        </p:nvSpPr>
        <p:spPr>
          <a:xfrm>
            <a:off x="6400800" y="3291840"/>
            <a:ext cx="2468880" cy="109728"/>
          </a:xfrm>
          <a:prstGeom prst="rect">
            <a:avLst/>
          </a:prstGeom>
          <a:solidFill>
            <a:srgbClr val="4FC3F7"/>
          </a:solidFill>
          <a:ln/>
        </p:spPr>
      </p:sp>
      <p:sp>
        <p:nvSpPr>
          <p:cNvPr id="11" name="Shape 9"/>
          <p:cNvSpPr/>
          <p:nvPr/>
        </p:nvSpPr>
        <p:spPr>
          <a:xfrm>
            <a:off x="6675120" y="3474720"/>
            <a:ext cx="2103120" cy="109728"/>
          </a:xfrm>
          <a:prstGeom prst="rect">
            <a:avLst/>
          </a:prstGeom>
          <a:solidFill>
            <a:srgbClr val="4FC3F7"/>
          </a:solidFill>
          <a:ln/>
        </p:spPr>
      </p:sp>
      <p:sp>
        <p:nvSpPr>
          <p:cNvPr id="12" name="Text 10"/>
          <p:cNvSpPr/>
          <p:nvPr/>
        </p:nvSpPr>
        <p:spPr>
          <a:xfrm>
            <a:off x="274320" y="1115568"/>
            <a:ext cx="5029200" cy="1463040"/>
          </a:xfrm>
          <a:prstGeom prst="rect">
            <a:avLst/>
          </a:prstGeom>
          <a:noFill/>
          <a:ln/>
        </p:spPr>
        <p:txBody>
          <a:bodyPr wrap="square" rtlCol="0" anchor="ctr"/>
          <a:lstStyle/>
          <a:p>
            <a:r>
              <a:rPr lang="en-IN" sz="2800" b="1" dirty="0">
                <a:solidFill>
                  <a:schemeClr val="accent5">
                    <a:lumMod val="50000"/>
                  </a:schemeClr>
                </a:solidFill>
                <a:latin typeface="Arial" panose="020B0604020202020204" pitchFamily="34" charset="0"/>
                <a:cs typeface="Arial" panose="020B0604020202020204" pitchFamily="34" charset="0"/>
              </a:rPr>
              <a:t>Sales Performance and Demand Analysis </a:t>
            </a:r>
          </a:p>
          <a:p>
            <a:pPr marL="0" indent="0">
              <a:buNone/>
            </a:pPr>
            <a:endParaRPr lang="en-US" sz="3800" dirty="0"/>
          </a:p>
        </p:txBody>
      </p:sp>
      <p:sp>
        <p:nvSpPr>
          <p:cNvPr id="13" name="Shape 11"/>
          <p:cNvSpPr/>
          <p:nvPr/>
        </p:nvSpPr>
        <p:spPr>
          <a:xfrm>
            <a:off x="320040" y="2578608"/>
            <a:ext cx="3840480" cy="384048"/>
          </a:xfrm>
          <a:prstGeom prst="rect">
            <a:avLst/>
          </a:prstGeom>
          <a:solidFill>
            <a:srgbClr val="1565C0"/>
          </a:solidFill>
          <a:ln/>
        </p:spPr>
      </p:sp>
      <p:sp>
        <p:nvSpPr>
          <p:cNvPr id="14" name="Shape 12"/>
          <p:cNvSpPr/>
          <p:nvPr/>
        </p:nvSpPr>
        <p:spPr>
          <a:xfrm>
            <a:off x="4160520" y="2578608"/>
            <a:ext cx="274320" cy="384048"/>
          </a:xfrm>
          <a:prstGeom prst="rect">
            <a:avLst/>
          </a:prstGeom>
          <a:solidFill>
            <a:srgbClr val="1B3A8A"/>
          </a:solidFill>
          <a:ln/>
        </p:spPr>
      </p:sp>
      <p:sp>
        <p:nvSpPr>
          <p:cNvPr id="15" name="Text 13"/>
          <p:cNvSpPr/>
          <p:nvPr/>
        </p:nvSpPr>
        <p:spPr>
          <a:xfrm>
            <a:off x="320040" y="2578608"/>
            <a:ext cx="3840480" cy="384048"/>
          </a:xfrm>
          <a:prstGeom prst="rect">
            <a:avLst/>
          </a:prstGeom>
          <a:noFill/>
          <a:ln/>
        </p:spPr>
        <p:txBody>
          <a:bodyPr wrap="square" rtlCol="0" anchor="ctr"/>
          <a:lstStyle/>
          <a:p>
            <a:pPr marL="0" indent="0">
              <a:buNone/>
            </a:pPr>
            <a:r>
              <a:rPr lang="en-US" sz="1300" b="1" kern="0" spc="200">
                <a:solidFill>
                  <a:srgbClr val="FFFFFF"/>
                </a:solidFill>
                <a:latin typeface="Calibri" pitchFamily="34" charset="0"/>
                <a:ea typeface="Calibri" pitchFamily="34" charset="-122"/>
                <a:cs typeface="Calibri" pitchFamily="34" charset="-120"/>
              </a:rPr>
              <a:t>P R E S E N T A T I O N   2 0 2 6</a:t>
            </a:r>
            <a:endParaRPr lang="en-US" sz="1300"/>
          </a:p>
        </p:txBody>
      </p:sp>
      <p:sp>
        <p:nvSpPr>
          <p:cNvPr id="16" name="Shape 14"/>
          <p:cNvSpPr/>
          <p:nvPr/>
        </p:nvSpPr>
        <p:spPr>
          <a:xfrm>
            <a:off x="320040" y="3611880"/>
            <a:ext cx="411480" cy="411480"/>
          </a:xfrm>
          <a:prstGeom prst="ellipse">
            <a:avLst/>
          </a:prstGeom>
          <a:solidFill>
            <a:srgbClr val="ECEFF1"/>
          </a:solidFill>
          <a:ln w="19050">
            <a:solidFill>
              <a:srgbClr val="1B3A8A"/>
            </a:solidFill>
            <a:prstDash val="solid"/>
          </a:ln>
        </p:spPr>
      </p:sp>
      <p:sp>
        <p:nvSpPr>
          <p:cNvPr id="17" name="Text 15"/>
          <p:cNvSpPr/>
          <p:nvPr/>
        </p:nvSpPr>
        <p:spPr>
          <a:xfrm>
            <a:off x="320040" y="3621024"/>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18" name="Text 16"/>
          <p:cNvSpPr/>
          <p:nvPr/>
        </p:nvSpPr>
        <p:spPr>
          <a:xfrm>
            <a:off x="777240" y="3611880"/>
            <a:ext cx="1828800" cy="201168"/>
          </a:xfrm>
          <a:prstGeom prst="rect">
            <a:avLst/>
          </a:prstGeom>
          <a:noFill/>
          <a:ln/>
        </p:spPr>
        <p:txBody>
          <a:bodyPr wrap="square" rtlCol="0" anchor="ctr"/>
          <a:lstStyle/>
          <a:p>
            <a:pPr marL="0" indent="0">
              <a:buNone/>
            </a:pPr>
            <a:r>
              <a:rPr lang="en-US" sz="900">
                <a:solidFill>
                  <a:srgbClr val="607D8B"/>
                </a:solidFill>
                <a:latin typeface="Calibri" pitchFamily="34" charset="0"/>
                <a:ea typeface="Calibri" pitchFamily="34" charset="-122"/>
                <a:cs typeface="Calibri" pitchFamily="34" charset="-120"/>
              </a:rPr>
              <a:t>Student Name</a:t>
            </a:r>
            <a:endParaRPr lang="en-US" sz="900"/>
          </a:p>
        </p:txBody>
      </p:sp>
      <p:sp>
        <p:nvSpPr>
          <p:cNvPr id="19" name="Text 17"/>
          <p:cNvSpPr/>
          <p:nvPr/>
        </p:nvSpPr>
        <p:spPr>
          <a:xfrm>
            <a:off x="777240" y="3794760"/>
            <a:ext cx="1828800" cy="228600"/>
          </a:xfrm>
          <a:prstGeom prst="rect">
            <a:avLst/>
          </a:prstGeom>
          <a:noFill/>
          <a:ln/>
        </p:spPr>
        <p:txBody>
          <a:bodyPr wrap="square" rtlCol="0" anchor="ctr"/>
          <a:lstStyle/>
          <a:p>
            <a:pPr marL="0" indent="0">
              <a:buNone/>
            </a:pPr>
            <a:r>
              <a:rPr lang="en-US" sz="1100" b="1" dirty="0">
                <a:solidFill>
                  <a:srgbClr val="1B3A8A"/>
                </a:solidFill>
                <a:latin typeface="Calibri" pitchFamily="34" charset="0"/>
                <a:ea typeface="Calibri" pitchFamily="34" charset="-122"/>
                <a:cs typeface="Calibri" pitchFamily="34" charset="-120"/>
              </a:rPr>
              <a:t>Amruta Anant Nadkar</a:t>
            </a:r>
            <a:endParaRPr lang="en-US" sz="1100" dirty="0"/>
          </a:p>
        </p:txBody>
      </p:sp>
      <p:sp>
        <p:nvSpPr>
          <p:cNvPr id="20" name="Shape 18"/>
          <p:cNvSpPr/>
          <p:nvPr/>
        </p:nvSpPr>
        <p:spPr>
          <a:xfrm>
            <a:off x="2834640" y="3611880"/>
            <a:ext cx="411480" cy="411480"/>
          </a:xfrm>
          <a:prstGeom prst="ellipse">
            <a:avLst/>
          </a:prstGeom>
          <a:solidFill>
            <a:srgbClr val="ECEFF1"/>
          </a:solidFill>
          <a:ln w="19050">
            <a:solidFill>
              <a:srgbClr val="1B3A8A"/>
            </a:solidFill>
            <a:prstDash val="solid"/>
          </a:ln>
        </p:spPr>
      </p:sp>
      <p:sp>
        <p:nvSpPr>
          <p:cNvPr id="21" name="Text 19"/>
          <p:cNvSpPr/>
          <p:nvPr/>
        </p:nvSpPr>
        <p:spPr>
          <a:xfrm>
            <a:off x="2834640" y="3621024"/>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22" name="Text 20"/>
          <p:cNvSpPr/>
          <p:nvPr/>
        </p:nvSpPr>
        <p:spPr>
          <a:xfrm>
            <a:off x="3291840" y="3611880"/>
            <a:ext cx="1828800" cy="201168"/>
          </a:xfrm>
          <a:prstGeom prst="rect">
            <a:avLst/>
          </a:prstGeom>
          <a:noFill/>
          <a:ln/>
        </p:spPr>
        <p:txBody>
          <a:bodyPr wrap="square" rtlCol="0" anchor="ctr"/>
          <a:lstStyle/>
          <a:p>
            <a:pPr marL="0" indent="0">
              <a:buNone/>
            </a:pPr>
            <a:r>
              <a:rPr lang="en-US" sz="900">
                <a:solidFill>
                  <a:srgbClr val="607D8B"/>
                </a:solidFill>
                <a:latin typeface="Calibri" pitchFamily="34" charset="0"/>
                <a:ea typeface="Calibri" pitchFamily="34" charset="-122"/>
                <a:cs typeface="Calibri" pitchFamily="34" charset="-120"/>
              </a:rPr>
              <a:t>Student Email</a:t>
            </a:r>
            <a:endParaRPr lang="en-US" sz="900"/>
          </a:p>
        </p:txBody>
      </p:sp>
      <p:sp>
        <p:nvSpPr>
          <p:cNvPr id="23" name="Text 21"/>
          <p:cNvSpPr/>
          <p:nvPr/>
        </p:nvSpPr>
        <p:spPr>
          <a:xfrm>
            <a:off x="3291840" y="3794760"/>
            <a:ext cx="2001272" cy="201168"/>
          </a:xfrm>
          <a:prstGeom prst="rect">
            <a:avLst/>
          </a:prstGeom>
          <a:noFill/>
          <a:ln/>
        </p:spPr>
        <p:txBody>
          <a:bodyPr wrap="square" rtlCol="0" anchor="ctr"/>
          <a:lstStyle/>
          <a:p>
            <a:pPr marL="0" indent="0">
              <a:buNone/>
            </a:pPr>
            <a:r>
              <a:rPr lang="en-US" sz="1100" b="1" dirty="0">
                <a:solidFill>
                  <a:srgbClr val="1B3A8A"/>
                </a:solidFill>
                <a:latin typeface="Calibri" pitchFamily="34" charset="0"/>
                <a:ea typeface="Calibri" pitchFamily="34" charset="-122"/>
                <a:cs typeface="Calibri" pitchFamily="34" charset="-120"/>
              </a:rPr>
              <a:t>nadkaramruta42@gmail.com</a:t>
            </a:r>
            <a:endParaRPr lang="en-US" sz="1100" dirty="0"/>
          </a:p>
        </p:txBody>
      </p:sp>
      <p:sp>
        <p:nvSpPr>
          <p:cNvPr id="24" name="Shape 22"/>
          <p:cNvSpPr/>
          <p:nvPr/>
        </p:nvSpPr>
        <p:spPr>
          <a:xfrm>
            <a:off x="277722" y="4384041"/>
            <a:ext cx="411480" cy="411480"/>
          </a:xfrm>
          <a:prstGeom prst="ellipse">
            <a:avLst/>
          </a:prstGeom>
          <a:solidFill>
            <a:srgbClr val="ECEFF1"/>
          </a:solidFill>
          <a:ln w="19050">
            <a:solidFill>
              <a:srgbClr val="1B3A8A"/>
            </a:solidFill>
            <a:prstDash val="solid"/>
          </a:ln>
        </p:spPr>
      </p:sp>
      <p:sp>
        <p:nvSpPr>
          <p:cNvPr id="25" name="Text 23"/>
          <p:cNvSpPr/>
          <p:nvPr/>
        </p:nvSpPr>
        <p:spPr>
          <a:xfrm>
            <a:off x="277722" y="4393185"/>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27" name="Text 25"/>
          <p:cNvSpPr/>
          <p:nvPr/>
        </p:nvSpPr>
        <p:spPr>
          <a:xfrm>
            <a:off x="777240" y="4567975"/>
            <a:ext cx="1828800" cy="228600"/>
          </a:xfrm>
          <a:prstGeom prst="rect">
            <a:avLst/>
          </a:prstGeom>
          <a:noFill/>
          <a:ln/>
        </p:spPr>
        <p:txBody>
          <a:bodyPr wrap="square" rtlCol="0" anchor="ctr"/>
          <a:lstStyle/>
          <a:p>
            <a:r>
              <a:rPr lang="en-US" sz="1100" b="1" dirty="0">
                <a:solidFill>
                  <a:srgbClr val="0D358D"/>
                </a:solidFill>
                <a:latin typeface="Arial" panose="020B0604020202020204" pitchFamily="34" charset="0"/>
                <a:ea typeface="Aileron Bold"/>
                <a:cs typeface="Arial" panose="020B0604020202020204" pitchFamily="34" charset="0"/>
                <a:sym typeface="Aileron Bold"/>
              </a:rPr>
              <a:t>Umamaheshwari</a:t>
            </a:r>
          </a:p>
          <a:p>
            <a:pPr marL="0" indent="0">
              <a:buNone/>
            </a:pPr>
            <a:endParaRPr lang="en-US" sz="1100" dirty="0"/>
          </a:p>
        </p:txBody>
      </p:sp>
      <p:sp>
        <p:nvSpPr>
          <p:cNvPr id="28" name="Shape 26"/>
          <p:cNvSpPr/>
          <p:nvPr/>
        </p:nvSpPr>
        <p:spPr>
          <a:xfrm>
            <a:off x="0" y="4983480"/>
            <a:ext cx="9144000" cy="160020"/>
          </a:xfrm>
          <a:prstGeom prst="rect">
            <a:avLst/>
          </a:prstGeom>
          <a:solidFill>
            <a:srgbClr val="1B3A8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OUTLINE</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457200" y="1234440"/>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Abstract of the Project</a:t>
            </a:r>
            <a:endParaRPr lang="en-US" sz="1300"/>
          </a:p>
        </p:txBody>
      </p:sp>
      <p:sp>
        <p:nvSpPr>
          <p:cNvPr id="7" name="Text 5"/>
          <p:cNvSpPr/>
          <p:nvPr/>
        </p:nvSpPr>
        <p:spPr>
          <a:xfrm>
            <a:off x="457200" y="1664208"/>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Problem Statement</a:t>
            </a:r>
            <a:endParaRPr lang="en-US" sz="1300"/>
          </a:p>
        </p:txBody>
      </p:sp>
      <p:sp>
        <p:nvSpPr>
          <p:cNvPr id="8" name="Text 6"/>
          <p:cNvSpPr/>
          <p:nvPr/>
        </p:nvSpPr>
        <p:spPr>
          <a:xfrm>
            <a:off x="457200" y="2093976"/>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Proposed Solution</a:t>
            </a:r>
            <a:endParaRPr lang="en-US" sz="1300"/>
          </a:p>
        </p:txBody>
      </p:sp>
      <p:sp>
        <p:nvSpPr>
          <p:cNvPr id="9" name="Text 7"/>
          <p:cNvSpPr/>
          <p:nvPr/>
        </p:nvSpPr>
        <p:spPr>
          <a:xfrm>
            <a:off x="457200" y="2523744"/>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System Architecture</a:t>
            </a:r>
            <a:endParaRPr lang="en-US" sz="1300"/>
          </a:p>
        </p:txBody>
      </p:sp>
      <p:sp>
        <p:nvSpPr>
          <p:cNvPr id="10" name="Text 8"/>
          <p:cNvSpPr/>
          <p:nvPr/>
        </p:nvSpPr>
        <p:spPr>
          <a:xfrm>
            <a:off x="457200" y="2953512"/>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Live Demo of the Project</a:t>
            </a:r>
            <a:endParaRPr lang="en-US" sz="1300"/>
          </a:p>
        </p:txBody>
      </p:sp>
      <p:sp>
        <p:nvSpPr>
          <p:cNvPr id="11" name="Text 9"/>
          <p:cNvSpPr/>
          <p:nvPr/>
        </p:nvSpPr>
        <p:spPr>
          <a:xfrm>
            <a:off x="457200" y="3383280"/>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Embedded Video of Project</a:t>
            </a:r>
            <a:endParaRPr lang="en-US" sz="1300"/>
          </a:p>
        </p:txBody>
      </p:sp>
      <p:sp>
        <p:nvSpPr>
          <p:cNvPr id="12" name="Text 10"/>
          <p:cNvSpPr/>
          <p:nvPr/>
        </p:nvSpPr>
        <p:spPr>
          <a:xfrm>
            <a:off x="457200" y="3813048"/>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Conclusion</a:t>
            </a:r>
            <a:endParaRPr lang="en-US" sz="1300"/>
          </a:p>
        </p:txBody>
      </p:sp>
      <p:sp>
        <p:nvSpPr>
          <p:cNvPr id="13" name="Text 11"/>
          <p:cNvSpPr/>
          <p:nvPr/>
        </p:nvSpPr>
        <p:spPr>
          <a:xfrm>
            <a:off x="457200" y="4242816"/>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Future Scope</a:t>
            </a:r>
            <a:endParaRPr lang="en-US" sz="1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Abstract</a:t>
            </a:r>
            <a:endParaRPr lang="en-US" sz="2200"/>
          </a:p>
        </p:txBody>
      </p:sp>
      <p:sp>
        <p:nvSpPr>
          <p:cNvPr id="5" name="Shape 3"/>
          <p:cNvSpPr/>
          <p:nvPr/>
        </p:nvSpPr>
        <p:spPr>
          <a:xfrm>
            <a:off x="0" y="4983480"/>
            <a:ext cx="9144000" cy="160020"/>
          </a:xfrm>
          <a:prstGeom prst="rect">
            <a:avLst/>
          </a:prstGeom>
          <a:solidFill>
            <a:srgbClr val="1B3A8A"/>
          </a:solidFill>
          <a:ln/>
        </p:spPr>
      </p:sp>
      <p:sp>
        <p:nvSpPr>
          <p:cNvPr id="19" name="Text 12">
            <a:extLst>
              <a:ext uri="{FF2B5EF4-FFF2-40B4-BE49-F238E27FC236}">
                <a16:creationId xmlns:a16="http://schemas.microsoft.com/office/drawing/2014/main" id="{7BA53C9D-AAA2-05C7-14B1-F7DA481CA53F}"/>
              </a:ext>
            </a:extLst>
          </p:cNvPr>
          <p:cNvSpPr/>
          <p:nvPr/>
        </p:nvSpPr>
        <p:spPr>
          <a:xfrm>
            <a:off x="457200" y="1284468"/>
            <a:ext cx="4114800" cy="302281"/>
          </a:xfrm>
          <a:prstGeom prst="rect">
            <a:avLst/>
          </a:prstGeom>
          <a:noFill/>
          <a:ln/>
        </p:spPr>
        <p:txBody>
          <a:bodyPr wrap="square" rtlCol="0" anchor="ctr"/>
          <a:lstStyle/>
          <a:p>
            <a:pPr marL="0" indent="0">
              <a:buNone/>
            </a:pPr>
            <a:endParaRPr lang="en-US" sz="1300" dirty="0"/>
          </a:p>
        </p:txBody>
      </p:sp>
      <p:sp>
        <p:nvSpPr>
          <p:cNvPr id="20" name="Text 13">
            <a:extLst>
              <a:ext uri="{FF2B5EF4-FFF2-40B4-BE49-F238E27FC236}">
                <a16:creationId xmlns:a16="http://schemas.microsoft.com/office/drawing/2014/main" id="{FBB90A13-7196-D2E6-20B4-845F03152899}"/>
              </a:ext>
            </a:extLst>
          </p:cNvPr>
          <p:cNvSpPr/>
          <p:nvPr/>
        </p:nvSpPr>
        <p:spPr>
          <a:xfrm>
            <a:off x="457200" y="1664208"/>
            <a:ext cx="4114800" cy="402336"/>
          </a:xfrm>
          <a:prstGeom prst="rect">
            <a:avLst/>
          </a:prstGeom>
          <a:noFill/>
          <a:ln/>
        </p:spPr>
        <p:txBody>
          <a:bodyPr wrap="square" rtlCol="0" anchor="ctr"/>
          <a:lstStyle/>
          <a:p>
            <a:pPr marL="0" indent="0">
              <a:buNone/>
            </a:pPr>
            <a:endParaRPr lang="en-US" sz="1300" dirty="0"/>
          </a:p>
        </p:txBody>
      </p:sp>
      <p:sp>
        <p:nvSpPr>
          <p:cNvPr id="21" name="Text 14">
            <a:extLst>
              <a:ext uri="{FF2B5EF4-FFF2-40B4-BE49-F238E27FC236}">
                <a16:creationId xmlns:a16="http://schemas.microsoft.com/office/drawing/2014/main" id="{4BCD0967-8763-EBD0-918B-8930803EE40C}"/>
              </a:ext>
            </a:extLst>
          </p:cNvPr>
          <p:cNvSpPr/>
          <p:nvPr/>
        </p:nvSpPr>
        <p:spPr>
          <a:xfrm>
            <a:off x="-211873" y="1664208"/>
            <a:ext cx="4114800" cy="402336"/>
          </a:xfrm>
          <a:prstGeom prst="rect">
            <a:avLst/>
          </a:prstGeom>
          <a:noFill/>
          <a:ln/>
        </p:spPr>
        <p:txBody>
          <a:bodyPr wrap="square" rtlCol="0" anchor="ctr"/>
          <a:lstStyle/>
          <a:p>
            <a:pPr marL="0" indent="0">
              <a:buNone/>
            </a:pPr>
            <a:endParaRPr lang="en-US" sz="1300" dirty="0"/>
          </a:p>
        </p:txBody>
      </p:sp>
      <p:sp>
        <p:nvSpPr>
          <p:cNvPr id="9" name="TextBox 8">
            <a:extLst>
              <a:ext uri="{FF2B5EF4-FFF2-40B4-BE49-F238E27FC236}">
                <a16:creationId xmlns:a16="http://schemas.microsoft.com/office/drawing/2014/main" id="{F3135670-6104-9A90-D4FB-D534A01AEE12}"/>
              </a:ext>
            </a:extLst>
          </p:cNvPr>
          <p:cNvSpPr txBox="1"/>
          <p:nvPr/>
        </p:nvSpPr>
        <p:spPr>
          <a:xfrm>
            <a:off x="320040" y="1289523"/>
            <a:ext cx="8471210" cy="3477875"/>
          </a:xfrm>
          <a:prstGeom prst="rect">
            <a:avLst/>
          </a:prstGeom>
          <a:noFill/>
        </p:spPr>
        <p:txBody>
          <a:bodyPr wrap="square">
            <a:spAutoFit/>
          </a:bodyPr>
          <a:lstStyle/>
          <a:p>
            <a:pPr marL="285750" indent="-285750">
              <a:buFont typeface="Arial" panose="020B0604020202020204" pitchFamily="34" charset="0"/>
              <a:buChar char="•"/>
            </a:pPr>
            <a:r>
              <a:rPr lang="en-US" sz="2000" dirty="0"/>
              <a:t>This project focuses on analyzing Flipkart sales data using Microsoft Excel and Power BI. </a:t>
            </a:r>
          </a:p>
          <a:p>
            <a:pPr marL="285750" indent="-285750">
              <a:buFont typeface="Arial" panose="020B0604020202020204" pitchFamily="34" charset="0"/>
              <a:buChar char="•"/>
            </a:pPr>
            <a:r>
              <a:rPr lang="en-US" sz="2000" dirty="0"/>
              <a:t>The objective is to clean, organize, and transform raw data into meaningful insights for better business decision-making.</a:t>
            </a:r>
          </a:p>
          <a:p>
            <a:pPr marL="285750" indent="-285750">
              <a:buFont typeface="Arial" panose="020B0604020202020204" pitchFamily="34" charset="0"/>
              <a:buChar char="•"/>
            </a:pPr>
            <a:r>
              <a:rPr lang="en-US" sz="2000" dirty="0"/>
              <a:t>Excel was used for data cleaning, handling missing values, and removing duplicates, while Power BI was used to create interactive dashboards and visualizations.</a:t>
            </a:r>
          </a:p>
          <a:p>
            <a:pPr marL="285750" indent="-285750">
              <a:buFont typeface="Arial" panose="020B0604020202020204" pitchFamily="34" charset="0"/>
              <a:buChar char="•"/>
            </a:pPr>
            <a:r>
              <a:rPr lang="en-US" sz="2000" dirty="0"/>
              <a:t>The project highlights key insights such as sales trends, top-performing products, and regional performance.</a:t>
            </a:r>
          </a:p>
          <a:p>
            <a:pPr marL="285750" indent="-285750">
              <a:buFont typeface="Arial" panose="020B0604020202020204" pitchFamily="34" charset="0"/>
              <a:buChar char="•"/>
            </a:pPr>
            <a:r>
              <a:rPr lang="en-US" sz="2000" dirty="0"/>
              <a:t>Overall, it demonstrates how data analytics tools can convert raw data into actionable business intelligence.</a:t>
            </a:r>
            <a:endParaRPr lang="en-IN"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Problem Statement</a:t>
            </a:r>
            <a:endParaRPr lang="en-US" sz="2200"/>
          </a:p>
        </p:txBody>
      </p:sp>
      <p:sp>
        <p:nvSpPr>
          <p:cNvPr id="5" name="Shape 3"/>
          <p:cNvSpPr/>
          <p:nvPr/>
        </p:nvSpPr>
        <p:spPr>
          <a:xfrm>
            <a:off x="0" y="4983480"/>
            <a:ext cx="9144000" cy="160020"/>
          </a:xfrm>
          <a:prstGeom prst="rect">
            <a:avLst/>
          </a:prstGeom>
          <a:solidFill>
            <a:srgbClr val="1B3A8A"/>
          </a:solidFill>
          <a:ln/>
        </p:spPr>
      </p:sp>
      <p:sp>
        <p:nvSpPr>
          <p:cNvPr id="14" name="Text 12"/>
          <p:cNvSpPr/>
          <p:nvPr/>
        </p:nvSpPr>
        <p:spPr>
          <a:xfrm>
            <a:off x="457200" y="1234440"/>
            <a:ext cx="4114800" cy="402336"/>
          </a:xfrm>
          <a:prstGeom prst="rect">
            <a:avLst/>
          </a:prstGeom>
          <a:noFill/>
          <a:ln/>
        </p:spPr>
        <p:txBody>
          <a:bodyPr wrap="square" rtlCol="0" anchor="ctr"/>
          <a:lstStyle/>
          <a:p>
            <a:pPr marL="0" indent="0">
              <a:buNone/>
            </a:pPr>
            <a:endParaRPr lang="en-US" sz="1300" dirty="0"/>
          </a:p>
        </p:txBody>
      </p:sp>
      <p:sp>
        <p:nvSpPr>
          <p:cNvPr id="15" name="Text 13"/>
          <p:cNvSpPr/>
          <p:nvPr/>
        </p:nvSpPr>
        <p:spPr>
          <a:xfrm>
            <a:off x="457200" y="1664208"/>
            <a:ext cx="4114800" cy="402336"/>
          </a:xfrm>
          <a:prstGeom prst="rect">
            <a:avLst/>
          </a:prstGeom>
          <a:noFill/>
          <a:ln/>
        </p:spPr>
        <p:txBody>
          <a:bodyPr wrap="square" rtlCol="0" anchor="ctr"/>
          <a:lstStyle/>
          <a:p>
            <a:pPr marL="0" indent="0">
              <a:buNone/>
            </a:pPr>
            <a:endParaRPr lang="en-US" sz="1300" dirty="0"/>
          </a:p>
        </p:txBody>
      </p:sp>
      <p:sp>
        <p:nvSpPr>
          <p:cNvPr id="16" name="Text 14"/>
          <p:cNvSpPr/>
          <p:nvPr/>
        </p:nvSpPr>
        <p:spPr>
          <a:xfrm>
            <a:off x="457200" y="2093976"/>
            <a:ext cx="4114800" cy="402336"/>
          </a:xfrm>
          <a:prstGeom prst="rect">
            <a:avLst/>
          </a:prstGeom>
          <a:noFill/>
          <a:ln/>
        </p:spPr>
        <p:txBody>
          <a:bodyPr wrap="square" rtlCol="0" anchor="ctr"/>
          <a:lstStyle/>
          <a:p>
            <a:pPr marL="0" indent="0">
              <a:buNone/>
            </a:pPr>
            <a:endParaRPr lang="en-US" sz="1300" dirty="0"/>
          </a:p>
        </p:txBody>
      </p:sp>
      <p:sp>
        <p:nvSpPr>
          <p:cNvPr id="17" name="Text 15"/>
          <p:cNvSpPr/>
          <p:nvPr/>
        </p:nvSpPr>
        <p:spPr>
          <a:xfrm>
            <a:off x="457200" y="2523744"/>
            <a:ext cx="4114800" cy="402336"/>
          </a:xfrm>
          <a:prstGeom prst="rect">
            <a:avLst/>
          </a:prstGeom>
          <a:noFill/>
          <a:ln/>
        </p:spPr>
        <p:txBody>
          <a:bodyPr wrap="square" rtlCol="0" anchor="ctr"/>
          <a:lstStyle/>
          <a:p>
            <a:pPr marL="0" indent="0">
              <a:buNone/>
            </a:pPr>
            <a:endParaRPr lang="en-US" sz="1300" dirty="0"/>
          </a:p>
        </p:txBody>
      </p:sp>
      <p:sp>
        <p:nvSpPr>
          <p:cNvPr id="18" name="Text 16"/>
          <p:cNvSpPr/>
          <p:nvPr/>
        </p:nvSpPr>
        <p:spPr>
          <a:xfrm>
            <a:off x="256478" y="2013426"/>
            <a:ext cx="8293162" cy="1895634"/>
          </a:xfrm>
          <a:prstGeom prst="rect">
            <a:avLst/>
          </a:prstGeom>
          <a:noFill/>
          <a:ln/>
        </p:spPr>
        <p:txBody>
          <a:bodyPr wrap="square" rtlCol="0" anchor="ctr"/>
          <a:lstStyle/>
          <a:p>
            <a:pPr marL="285750" indent="-285750">
              <a:buFont typeface="Arial" panose="020B0604020202020204" pitchFamily="34" charset="0"/>
              <a:buChar char="•"/>
            </a:pPr>
            <a:r>
              <a:rPr lang="en-US" sz="2000" dirty="0"/>
              <a:t>Organizations often deal with large volumes of sales data that contain errors such as missing values, duplicates, and inconsistent formats, making accurate analysis difficult.</a:t>
            </a:r>
          </a:p>
          <a:p>
            <a:pPr marL="285750" indent="-285750">
              <a:buFont typeface="Arial" panose="020B0604020202020204" pitchFamily="34" charset="0"/>
              <a:buChar char="•"/>
            </a:pPr>
            <a:r>
              <a:rPr lang="en-US" sz="2000" dirty="0"/>
              <a:t>This problem is significant because poor data quality leads to incorrect insights and weak business decisions.</a:t>
            </a:r>
          </a:p>
          <a:p>
            <a:pPr marL="285750" indent="-285750">
              <a:buFont typeface="Arial" panose="020B0604020202020204" pitchFamily="34" charset="0"/>
              <a:buChar char="•"/>
            </a:pPr>
            <a:r>
              <a:rPr lang="en-US" sz="2000" dirty="0"/>
              <a:t>Business analysts, managers, and decision-makers are directly affected by unreliable data.</a:t>
            </a:r>
          </a:p>
          <a:p>
            <a:pPr marL="285750" indent="-285750">
              <a:buFont typeface="Arial" panose="020B0604020202020204" pitchFamily="34" charset="0"/>
              <a:buChar char="•"/>
            </a:pPr>
            <a:r>
              <a:rPr lang="en-US" sz="2000" dirty="0"/>
              <a:t>Traditional methods lack efficient visualization and real-time analysis capabilities.</a:t>
            </a:r>
          </a:p>
          <a:p>
            <a:pPr marL="285750" indent="-285750">
              <a:buFont typeface="Arial" panose="020B0604020202020204" pitchFamily="34" charset="0"/>
              <a:buChar char="•"/>
            </a:pPr>
            <a:r>
              <a:rPr lang="en-US" sz="2000" dirty="0"/>
              <a:t>This project focuses on cleaning and analyzing sales data using Excel and Power BI, within the scope of data preprocessing and dashboard creation, without involving advanced predictive modeling.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Proposed Solution</a:t>
            </a:r>
            <a:endParaRPr lang="en-US" sz="2200"/>
          </a:p>
        </p:txBody>
      </p:sp>
      <p:sp>
        <p:nvSpPr>
          <p:cNvPr id="5" name="Shape 3"/>
          <p:cNvSpPr/>
          <p:nvPr/>
        </p:nvSpPr>
        <p:spPr>
          <a:xfrm>
            <a:off x="0" y="4983480"/>
            <a:ext cx="9144000" cy="160020"/>
          </a:xfrm>
          <a:prstGeom prst="rect">
            <a:avLst/>
          </a:prstGeom>
          <a:solidFill>
            <a:srgbClr val="1B3A8A"/>
          </a:solidFill>
          <a:ln/>
        </p:spPr>
      </p:sp>
      <p:sp>
        <p:nvSpPr>
          <p:cNvPr id="14" name="Text 12"/>
          <p:cNvSpPr/>
          <p:nvPr/>
        </p:nvSpPr>
        <p:spPr>
          <a:xfrm>
            <a:off x="457200" y="1289081"/>
            <a:ext cx="7987990" cy="3342392"/>
          </a:xfrm>
          <a:prstGeom prst="rect">
            <a:avLst/>
          </a:prstGeom>
          <a:noFill/>
          <a:ln/>
        </p:spPr>
        <p:txBody>
          <a:bodyPr wrap="square" rtlCol="0" anchor="t"/>
          <a:lstStyle/>
          <a:p>
            <a:pPr marL="285750" indent="-285750">
              <a:buFont typeface="Arial" panose="020B0604020202020204" pitchFamily="34" charset="0"/>
              <a:buChar char="•"/>
            </a:pPr>
            <a:r>
              <a:rPr lang="en-US" sz="2000" dirty="0"/>
              <a:t>The proposed solution involves cleaning and transforming raw sales data using Microsoft Excel by removing duplicates, handling missing values, and standardizing formats. </a:t>
            </a:r>
          </a:p>
          <a:p>
            <a:pPr marL="285750" indent="-285750">
              <a:buFont typeface="Arial" panose="020B0604020202020204" pitchFamily="34" charset="0"/>
              <a:buChar char="•"/>
            </a:pPr>
            <a:r>
              <a:rPr lang="en-US" sz="2000" dirty="0"/>
              <a:t>After preprocessing, the cleaned dataset is imported into Power BI to build interactive dashboards and visualizations such as KPI cards, bar charts, and trend analysis.</a:t>
            </a:r>
          </a:p>
          <a:p>
            <a:pPr marL="285750" indent="-285750">
              <a:buFont typeface="Arial" panose="020B0604020202020204" pitchFamily="34" charset="0"/>
              <a:buChar char="•"/>
            </a:pPr>
            <a:r>
              <a:rPr lang="en-US" sz="2000" dirty="0"/>
              <a:t>This approach enables accurate data analysis and clear representation of insights.</a:t>
            </a:r>
          </a:p>
          <a:p>
            <a:pPr marL="285750" indent="-285750">
              <a:buFont typeface="Arial" panose="020B0604020202020204" pitchFamily="34" charset="0"/>
              <a:buChar char="•"/>
            </a:pPr>
            <a:r>
              <a:rPr lang="en-US" sz="2000" dirty="0"/>
              <a:t>Compared to traditional methods, it provides faster processing, better visualization, and improved decision-making support.</a:t>
            </a:r>
          </a:p>
          <a:p>
            <a:endParaRPr lang="en-US" sz="2000" dirty="0"/>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System Architecture</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Shape 4"/>
          <p:cNvSpPr/>
          <p:nvPr/>
        </p:nvSpPr>
        <p:spPr>
          <a:xfrm>
            <a:off x="274320" y="1097280"/>
            <a:ext cx="4114800" cy="384048"/>
          </a:xfrm>
          <a:prstGeom prst="rect">
            <a:avLst/>
          </a:prstGeom>
          <a:solidFill>
            <a:srgbClr val="1565C0"/>
          </a:solidFill>
          <a:ln/>
        </p:spPr>
      </p:sp>
      <p:sp>
        <p:nvSpPr>
          <p:cNvPr id="7" name="Shape 5"/>
          <p:cNvSpPr/>
          <p:nvPr/>
        </p:nvSpPr>
        <p:spPr>
          <a:xfrm>
            <a:off x="4206240" y="1097280"/>
            <a:ext cx="320040" cy="384048"/>
          </a:xfrm>
          <a:prstGeom prst="rect">
            <a:avLst/>
          </a:prstGeom>
          <a:solidFill>
            <a:srgbClr val="1B3A8A"/>
          </a:solidFill>
          <a:ln/>
        </p:spPr>
      </p:sp>
      <p:sp>
        <p:nvSpPr>
          <p:cNvPr id="8" name="Text 6"/>
          <p:cNvSpPr/>
          <p:nvPr/>
        </p:nvSpPr>
        <p:spPr>
          <a:xfrm>
            <a:off x="365760" y="11338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Data Input / Source</a:t>
            </a:r>
            <a:endParaRPr lang="en-US" sz="1200"/>
          </a:p>
        </p:txBody>
      </p:sp>
      <p:sp>
        <p:nvSpPr>
          <p:cNvPr id="9" name="Text 7"/>
          <p:cNvSpPr/>
          <p:nvPr/>
        </p:nvSpPr>
        <p:spPr>
          <a:xfrm>
            <a:off x="365760" y="1554480"/>
            <a:ext cx="4023360" cy="1188720"/>
          </a:xfrm>
          <a:prstGeom prst="rect">
            <a:avLst/>
          </a:prstGeom>
          <a:noFill/>
          <a:ln/>
        </p:spPr>
        <p:txBody>
          <a:bodyPr wrap="square" rtlCol="0" anchor="t"/>
          <a:lstStyle/>
          <a:p>
            <a:r>
              <a:rPr lang="en-US" sz="1600" dirty="0"/>
              <a:t>The dataset was downloaded from Kaggle and provided in Excel/CSV format containing Flipkart sales data, which was uploaded for analysis.</a:t>
            </a:r>
            <a:endParaRPr lang="en-US" sz="1600" dirty="0">
              <a:latin typeface="Lato" panose="020F0502020204030203" pitchFamily="34" charset="0"/>
              <a:cs typeface="Arial" panose="020B0604020202020204" pitchFamily="34" charset="0"/>
            </a:endParaRPr>
          </a:p>
          <a:p>
            <a:pPr marL="0" indent="0">
              <a:buNone/>
            </a:pPr>
            <a:endParaRPr lang="en-US" sz="1150" dirty="0"/>
          </a:p>
        </p:txBody>
      </p:sp>
      <p:sp>
        <p:nvSpPr>
          <p:cNvPr id="10" name="Shape 8"/>
          <p:cNvSpPr/>
          <p:nvPr/>
        </p:nvSpPr>
        <p:spPr>
          <a:xfrm>
            <a:off x="4709160" y="1097280"/>
            <a:ext cx="4114800" cy="384048"/>
          </a:xfrm>
          <a:prstGeom prst="rect">
            <a:avLst/>
          </a:prstGeom>
          <a:solidFill>
            <a:srgbClr val="1565C0"/>
          </a:solidFill>
          <a:ln/>
        </p:spPr>
      </p:sp>
      <p:sp>
        <p:nvSpPr>
          <p:cNvPr id="11" name="Shape 9"/>
          <p:cNvSpPr/>
          <p:nvPr/>
        </p:nvSpPr>
        <p:spPr>
          <a:xfrm>
            <a:off x="8641080" y="1097280"/>
            <a:ext cx="320040" cy="384048"/>
          </a:xfrm>
          <a:prstGeom prst="rect">
            <a:avLst/>
          </a:prstGeom>
          <a:solidFill>
            <a:srgbClr val="1B3A8A"/>
          </a:solidFill>
          <a:ln/>
        </p:spPr>
      </p:sp>
      <p:sp>
        <p:nvSpPr>
          <p:cNvPr id="12" name="Text 10"/>
          <p:cNvSpPr/>
          <p:nvPr/>
        </p:nvSpPr>
        <p:spPr>
          <a:xfrm>
            <a:off x="4800600" y="11338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Processing / Analysis</a:t>
            </a:r>
            <a:endParaRPr lang="en-US" sz="1200"/>
          </a:p>
        </p:txBody>
      </p:sp>
      <p:sp>
        <p:nvSpPr>
          <p:cNvPr id="13" name="Text 11"/>
          <p:cNvSpPr/>
          <p:nvPr/>
        </p:nvSpPr>
        <p:spPr>
          <a:xfrm>
            <a:off x="4800600" y="1554480"/>
            <a:ext cx="4023360" cy="1188720"/>
          </a:xfrm>
          <a:prstGeom prst="rect">
            <a:avLst/>
          </a:prstGeom>
          <a:noFill/>
          <a:ln/>
        </p:spPr>
        <p:txBody>
          <a:bodyPr wrap="square" rtlCol="0" anchor="t"/>
          <a:lstStyle/>
          <a:p>
            <a:r>
              <a:rPr lang="en-US" sz="1600" dirty="0"/>
              <a:t>Data was cleaned and transformed in Microsoft Excel by removing duplicates and handling missing values, then analyzed in Power BI using charts and measures.</a:t>
            </a:r>
            <a:endParaRPr lang="en-US" sz="1600" dirty="0">
              <a:latin typeface="Lato" panose="020F0502020204030203" pitchFamily="34" charset="0"/>
              <a:cs typeface="Arial" panose="020B0604020202020204" pitchFamily="34" charset="0"/>
            </a:endParaRPr>
          </a:p>
          <a:p>
            <a:endParaRPr lang="en-US" sz="1600" dirty="0">
              <a:latin typeface="Lato" panose="020F0502020204030203" pitchFamily="34" charset="0"/>
              <a:cs typeface="Arial" panose="020B0604020202020204" pitchFamily="34" charset="0"/>
            </a:endParaRPr>
          </a:p>
          <a:p>
            <a:pPr marL="0" indent="0">
              <a:buNone/>
            </a:pPr>
            <a:endParaRPr lang="en-US" sz="1150" dirty="0"/>
          </a:p>
        </p:txBody>
      </p:sp>
      <p:sp>
        <p:nvSpPr>
          <p:cNvPr id="14" name="Shape 12"/>
          <p:cNvSpPr/>
          <p:nvPr/>
        </p:nvSpPr>
        <p:spPr>
          <a:xfrm>
            <a:off x="274320" y="2926080"/>
            <a:ext cx="4114800" cy="384048"/>
          </a:xfrm>
          <a:prstGeom prst="rect">
            <a:avLst/>
          </a:prstGeom>
          <a:solidFill>
            <a:srgbClr val="1565C0"/>
          </a:solidFill>
          <a:ln/>
        </p:spPr>
      </p:sp>
      <p:sp>
        <p:nvSpPr>
          <p:cNvPr id="15" name="Shape 13"/>
          <p:cNvSpPr/>
          <p:nvPr/>
        </p:nvSpPr>
        <p:spPr>
          <a:xfrm>
            <a:off x="4206240" y="2926080"/>
            <a:ext cx="320040" cy="384048"/>
          </a:xfrm>
          <a:prstGeom prst="rect">
            <a:avLst/>
          </a:prstGeom>
          <a:solidFill>
            <a:srgbClr val="1B3A8A"/>
          </a:solidFill>
          <a:ln/>
        </p:spPr>
      </p:sp>
      <p:sp>
        <p:nvSpPr>
          <p:cNvPr id="16" name="Text 14"/>
          <p:cNvSpPr/>
          <p:nvPr/>
        </p:nvSpPr>
        <p:spPr>
          <a:xfrm>
            <a:off x="365760" y="29626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AI / Tool Integration</a:t>
            </a:r>
            <a:endParaRPr lang="en-US" sz="1200"/>
          </a:p>
        </p:txBody>
      </p:sp>
      <p:sp>
        <p:nvSpPr>
          <p:cNvPr id="17" name="Text 15"/>
          <p:cNvSpPr/>
          <p:nvPr/>
        </p:nvSpPr>
        <p:spPr>
          <a:xfrm>
            <a:off x="365760" y="3383280"/>
            <a:ext cx="4023360" cy="1188720"/>
          </a:xfrm>
          <a:prstGeom prst="rect">
            <a:avLst/>
          </a:prstGeom>
          <a:noFill/>
          <a:ln/>
        </p:spPr>
        <p:txBody>
          <a:bodyPr wrap="square" rtlCol="0" anchor="t"/>
          <a:lstStyle/>
          <a:p>
            <a:r>
              <a:rPr lang="en-US" sz="1600" dirty="0"/>
              <a:t>Excel was used for preprocessing, Power BI for visualization, and AI tools like ChatGPT were used to generate insights and reports.</a:t>
            </a:r>
            <a:endParaRPr lang="en-US" sz="1600" dirty="0">
              <a:latin typeface="Lato" panose="020F0502020204030203" pitchFamily="34" charset="0"/>
              <a:cs typeface="Arial" panose="020B0604020202020204" pitchFamily="34" charset="0"/>
            </a:endParaRPr>
          </a:p>
          <a:p>
            <a:pPr marL="0" indent="0">
              <a:buNone/>
            </a:pPr>
            <a:endParaRPr lang="en-US" sz="1150" dirty="0"/>
          </a:p>
        </p:txBody>
      </p:sp>
      <p:sp>
        <p:nvSpPr>
          <p:cNvPr id="18" name="Shape 16"/>
          <p:cNvSpPr/>
          <p:nvPr/>
        </p:nvSpPr>
        <p:spPr>
          <a:xfrm>
            <a:off x="4709160" y="2926080"/>
            <a:ext cx="4114800" cy="384048"/>
          </a:xfrm>
          <a:prstGeom prst="rect">
            <a:avLst/>
          </a:prstGeom>
          <a:solidFill>
            <a:srgbClr val="1565C0"/>
          </a:solidFill>
          <a:ln/>
        </p:spPr>
      </p:sp>
      <p:sp>
        <p:nvSpPr>
          <p:cNvPr id="19" name="Shape 17"/>
          <p:cNvSpPr/>
          <p:nvPr/>
        </p:nvSpPr>
        <p:spPr>
          <a:xfrm>
            <a:off x="8641080" y="2926080"/>
            <a:ext cx="320040" cy="384048"/>
          </a:xfrm>
          <a:prstGeom prst="rect">
            <a:avLst/>
          </a:prstGeom>
          <a:solidFill>
            <a:srgbClr val="1B3A8A"/>
          </a:solidFill>
          <a:ln/>
        </p:spPr>
      </p:sp>
      <p:sp>
        <p:nvSpPr>
          <p:cNvPr id="20" name="Text 18"/>
          <p:cNvSpPr/>
          <p:nvPr/>
        </p:nvSpPr>
        <p:spPr>
          <a:xfrm>
            <a:off x="4800600" y="29626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Output / Dashboard</a:t>
            </a:r>
            <a:endParaRPr lang="en-US" sz="1200"/>
          </a:p>
        </p:txBody>
      </p:sp>
      <p:sp>
        <p:nvSpPr>
          <p:cNvPr id="21" name="Text 19"/>
          <p:cNvSpPr/>
          <p:nvPr/>
        </p:nvSpPr>
        <p:spPr>
          <a:xfrm>
            <a:off x="4800600" y="3383280"/>
            <a:ext cx="4023360" cy="1188720"/>
          </a:xfrm>
          <a:prstGeom prst="rect">
            <a:avLst/>
          </a:prstGeom>
          <a:noFill/>
          <a:ln/>
        </p:spPr>
        <p:txBody>
          <a:bodyPr wrap="square" rtlCol="0" anchor="t"/>
          <a:lstStyle/>
          <a:p>
            <a:r>
              <a:rPr lang="en-US" sz="1600" dirty="0"/>
              <a:t>The final output is an interactive Power BI dashboard with visualizations such as KPI cards, bar charts, pie charts, and sales. trend analysis.</a:t>
            </a:r>
            <a:endParaRPr lang="en-US" sz="1600" dirty="0">
              <a:latin typeface="Lato" panose="020F0502020204030203" pitchFamily="34" charset="0"/>
              <a:cs typeface="Arial" panose="020B0604020202020204" pitchFamily="34" charset="0"/>
            </a:endParaRPr>
          </a:p>
          <a:p>
            <a:pPr marL="0" indent="0">
              <a:buNone/>
            </a:pP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Live Demo of Project</a:t>
            </a:r>
            <a:endParaRPr lang="en-US" sz="2200" dirty="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365760" y="1115568"/>
            <a:ext cx="8412480" cy="320040"/>
          </a:xfrm>
          <a:prstGeom prst="rect">
            <a:avLst/>
          </a:prstGeom>
          <a:noFill/>
          <a:ln/>
        </p:spPr>
        <p:txBody>
          <a:bodyPr wrap="square" rtlCol="0" anchor="ctr"/>
          <a:lstStyle/>
          <a:p>
            <a:pPr marL="0" indent="0">
              <a:buNone/>
            </a:pPr>
            <a:r>
              <a:rPr lang="en-US" sz="1200" i="1" dirty="0">
                <a:solidFill>
                  <a:srgbClr val="607D8B"/>
                </a:solidFill>
                <a:latin typeface="Calibri" pitchFamily="34" charset="0"/>
                <a:ea typeface="Calibri" pitchFamily="34" charset="-122"/>
                <a:cs typeface="Calibri" pitchFamily="34" charset="-120"/>
              </a:rPr>
              <a:t>Here's the list of some demo screenshots / features of the project:</a:t>
            </a:r>
            <a:endParaRPr lang="en-US" sz="1200" dirty="0"/>
          </a:p>
        </p:txBody>
      </p:sp>
      <p:sp>
        <p:nvSpPr>
          <p:cNvPr id="7" name="Shape 5"/>
          <p:cNvSpPr/>
          <p:nvPr/>
        </p:nvSpPr>
        <p:spPr>
          <a:xfrm>
            <a:off x="978408" y="1463040"/>
            <a:ext cx="1371600" cy="1371600"/>
          </a:xfrm>
          <a:prstGeom prst="ellipse">
            <a:avLst/>
          </a:prstGeom>
          <a:solidFill>
            <a:srgbClr val="ECEFF1"/>
          </a:solidFill>
          <a:ln w="38100">
            <a:solidFill>
              <a:srgbClr val="FFFFFF"/>
            </a:solidFill>
            <a:prstDash val="solid"/>
          </a:ln>
        </p:spPr>
      </p:sp>
      <p:sp>
        <p:nvSpPr>
          <p:cNvPr id="8" name="Text 6"/>
          <p:cNvSpPr/>
          <p:nvPr/>
        </p:nvSpPr>
        <p:spPr>
          <a:xfrm>
            <a:off x="978408"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9" name="Shape 7"/>
          <p:cNvSpPr/>
          <p:nvPr/>
        </p:nvSpPr>
        <p:spPr>
          <a:xfrm>
            <a:off x="274320" y="2011680"/>
            <a:ext cx="2788920" cy="2651760"/>
          </a:xfrm>
          <a:prstGeom prst="rect">
            <a:avLst/>
          </a:prstGeom>
          <a:solidFill>
            <a:srgbClr val="1565C0"/>
          </a:solidFill>
          <a:ln/>
          <a:effectLst>
            <a:outerShdw blurRad="101600" dist="38100" dir="8100000" algn="bl" rotWithShape="0">
              <a:srgbClr val="000000">
                <a:alpha val="15000"/>
              </a:srgbClr>
            </a:outerShdw>
          </a:effectLst>
        </p:spPr>
      </p:sp>
      <p:sp>
        <p:nvSpPr>
          <p:cNvPr id="10" name="Text 8"/>
          <p:cNvSpPr/>
          <p:nvPr/>
        </p:nvSpPr>
        <p:spPr>
          <a:xfrm>
            <a:off x="274320" y="2651760"/>
            <a:ext cx="2788920" cy="41148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Demo 1</a:t>
            </a:r>
            <a:endParaRPr lang="en-US" sz="1600"/>
          </a:p>
        </p:txBody>
      </p:sp>
      <p:sp>
        <p:nvSpPr>
          <p:cNvPr id="11" name="Text 9"/>
          <p:cNvSpPr/>
          <p:nvPr/>
        </p:nvSpPr>
        <p:spPr>
          <a:xfrm>
            <a:off x="411480" y="3127248"/>
            <a:ext cx="2514600" cy="1371600"/>
          </a:xfrm>
          <a:prstGeom prst="rect">
            <a:avLst/>
          </a:prstGeom>
          <a:noFill/>
          <a:ln/>
        </p:spPr>
        <p:txBody>
          <a:bodyPr wrap="square" rtlCol="0" anchor="ctr"/>
          <a:lstStyle/>
          <a:p>
            <a:pPr marL="0" indent="0" algn="ctr">
              <a:buNone/>
            </a:pPr>
            <a:endParaRPr lang="en-US" sz="1050" dirty="0"/>
          </a:p>
        </p:txBody>
      </p:sp>
      <p:sp>
        <p:nvSpPr>
          <p:cNvPr id="12" name="Shape 10"/>
          <p:cNvSpPr/>
          <p:nvPr/>
        </p:nvSpPr>
        <p:spPr>
          <a:xfrm>
            <a:off x="3922776" y="1463040"/>
            <a:ext cx="1371600" cy="1371600"/>
          </a:xfrm>
          <a:prstGeom prst="ellipse">
            <a:avLst/>
          </a:prstGeom>
          <a:solidFill>
            <a:srgbClr val="ECEFF1"/>
          </a:solidFill>
          <a:ln w="38100">
            <a:solidFill>
              <a:srgbClr val="FFFFFF"/>
            </a:solidFill>
            <a:prstDash val="solid"/>
          </a:ln>
        </p:spPr>
      </p:sp>
      <p:sp>
        <p:nvSpPr>
          <p:cNvPr id="13" name="Text 11"/>
          <p:cNvSpPr/>
          <p:nvPr/>
        </p:nvSpPr>
        <p:spPr>
          <a:xfrm>
            <a:off x="3922776"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14" name="Shape 12"/>
          <p:cNvSpPr/>
          <p:nvPr/>
        </p:nvSpPr>
        <p:spPr>
          <a:xfrm>
            <a:off x="3218688" y="2011680"/>
            <a:ext cx="2788920" cy="2651760"/>
          </a:xfrm>
          <a:prstGeom prst="rect">
            <a:avLst/>
          </a:prstGeom>
          <a:solidFill>
            <a:srgbClr val="1565C0"/>
          </a:solidFill>
          <a:ln/>
          <a:effectLst>
            <a:outerShdw blurRad="101600" dist="38100" dir="8100000" algn="bl" rotWithShape="0">
              <a:srgbClr val="000000">
                <a:alpha val="15000"/>
              </a:srgbClr>
            </a:outerShdw>
          </a:effectLst>
        </p:spPr>
      </p:sp>
      <p:sp>
        <p:nvSpPr>
          <p:cNvPr id="15" name="Text 13"/>
          <p:cNvSpPr/>
          <p:nvPr/>
        </p:nvSpPr>
        <p:spPr>
          <a:xfrm>
            <a:off x="3218688" y="2651760"/>
            <a:ext cx="2788920" cy="41148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Demo 2</a:t>
            </a:r>
            <a:endParaRPr lang="en-US" sz="1600"/>
          </a:p>
        </p:txBody>
      </p:sp>
      <p:sp>
        <p:nvSpPr>
          <p:cNvPr id="16" name="Text 14"/>
          <p:cNvSpPr/>
          <p:nvPr/>
        </p:nvSpPr>
        <p:spPr>
          <a:xfrm>
            <a:off x="3355848" y="3127248"/>
            <a:ext cx="2514600" cy="1371600"/>
          </a:xfrm>
          <a:prstGeom prst="rect">
            <a:avLst/>
          </a:prstGeom>
          <a:noFill/>
          <a:ln/>
        </p:spPr>
        <p:txBody>
          <a:bodyPr wrap="square" rtlCol="0" anchor="ctr"/>
          <a:lstStyle/>
          <a:p>
            <a:pPr marL="0" indent="0" algn="ctr">
              <a:buNone/>
            </a:pPr>
            <a:endParaRPr lang="en-US" sz="1050" dirty="0"/>
          </a:p>
        </p:txBody>
      </p:sp>
      <p:sp>
        <p:nvSpPr>
          <p:cNvPr id="17" name="Shape 15"/>
          <p:cNvSpPr/>
          <p:nvPr/>
        </p:nvSpPr>
        <p:spPr>
          <a:xfrm>
            <a:off x="6867144" y="1463040"/>
            <a:ext cx="1371600" cy="1371600"/>
          </a:xfrm>
          <a:prstGeom prst="ellipse">
            <a:avLst/>
          </a:prstGeom>
          <a:solidFill>
            <a:srgbClr val="ECEFF1"/>
          </a:solidFill>
          <a:ln w="38100">
            <a:solidFill>
              <a:srgbClr val="FFFFFF"/>
            </a:solidFill>
            <a:prstDash val="solid"/>
          </a:ln>
        </p:spPr>
      </p:sp>
      <p:sp>
        <p:nvSpPr>
          <p:cNvPr id="18" name="Text 16"/>
          <p:cNvSpPr/>
          <p:nvPr/>
        </p:nvSpPr>
        <p:spPr>
          <a:xfrm>
            <a:off x="6867144"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19" name="Shape 17"/>
          <p:cNvSpPr/>
          <p:nvPr/>
        </p:nvSpPr>
        <p:spPr>
          <a:xfrm>
            <a:off x="6163056" y="2011680"/>
            <a:ext cx="2788920" cy="2651760"/>
          </a:xfrm>
          <a:prstGeom prst="rect">
            <a:avLst/>
          </a:prstGeom>
          <a:solidFill>
            <a:srgbClr val="1565C0"/>
          </a:solidFill>
          <a:ln/>
          <a:effectLst>
            <a:outerShdw blurRad="101600" dist="38100" dir="8100000" algn="bl" rotWithShape="0">
              <a:srgbClr val="000000">
                <a:alpha val="15000"/>
              </a:srgbClr>
            </a:outerShdw>
          </a:effectLst>
        </p:spPr>
      </p:sp>
      <p:sp>
        <p:nvSpPr>
          <p:cNvPr id="20" name="Text 18"/>
          <p:cNvSpPr/>
          <p:nvPr/>
        </p:nvSpPr>
        <p:spPr>
          <a:xfrm>
            <a:off x="6163056" y="2651760"/>
            <a:ext cx="2788920" cy="41148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Demo 3</a:t>
            </a:r>
            <a:endParaRPr lang="en-US" sz="1600"/>
          </a:p>
        </p:txBody>
      </p:sp>
      <p:sp>
        <p:nvSpPr>
          <p:cNvPr id="21" name="Text 19"/>
          <p:cNvSpPr/>
          <p:nvPr/>
        </p:nvSpPr>
        <p:spPr>
          <a:xfrm>
            <a:off x="6300216" y="3127248"/>
            <a:ext cx="2514600" cy="1371600"/>
          </a:xfrm>
          <a:prstGeom prst="rect">
            <a:avLst/>
          </a:prstGeom>
          <a:noFill/>
          <a:ln/>
        </p:spPr>
        <p:txBody>
          <a:bodyPr wrap="square" rtlCol="0" anchor="ctr"/>
          <a:lstStyle/>
          <a:p>
            <a:pPr marL="0" indent="0" algn="ctr">
              <a:buNone/>
            </a:pPr>
            <a:endParaRPr lang="en-US" sz="1050" dirty="0"/>
          </a:p>
        </p:txBody>
      </p:sp>
      <p:pic>
        <p:nvPicPr>
          <p:cNvPr id="22" name="Picture 21">
            <a:extLst>
              <a:ext uri="{FF2B5EF4-FFF2-40B4-BE49-F238E27FC236}">
                <a16:creationId xmlns:a16="http://schemas.microsoft.com/office/drawing/2014/main" id="{EEBAC00C-4C29-9FD7-0F22-2E5DE4C25175}"/>
              </a:ext>
            </a:extLst>
          </p:cNvPr>
          <p:cNvPicPr>
            <a:picLocks noChangeAspect="1"/>
          </p:cNvPicPr>
          <p:nvPr/>
        </p:nvPicPr>
        <p:blipFill>
          <a:blip r:embed="rId3"/>
          <a:stretch>
            <a:fillRect/>
          </a:stretch>
        </p:blipFill>
        <p:spPr>
          <a:xfrm>
            <a:off x="329184" y="2980944"/>
            <a:ext cx="2667234" cy="1626225"/>
          </a:xfrm>
          <a:prstGeom prst="rect">
            <a:avLst/>
          </a:prstGeom>
        </p:spPr>
      </p:pic>
      <p:pic>
        <p:nvPicPr>
          <p:cNvPr id="23" name="Picture 22">
            <a:extLst>
              <a:ext uri="{FF2B5EF4-FFF2-40B4-BE49-F238E27FC236}">
                <a16:creationId xmlns:a16="http://schemas.microsoft.com/office/drawing/2014/main" id="{A107BA91-BED1-8A95-D758-A999EF745F62}"/>
              </a:ext>
            </a:extLst>
          </p:cNvPr>
          <p:cNvPicPr>
            <a:picLocks noChangeAspect="1"/>
          </p:cNvPicPr>
          <p:nvPr/>
        </p:nvPicPr>
        <p:blipFill>
          <a:blip r:embed="rId4"/>
          <a:srcRect l="5873" t="3443" r="1360" b="1985"/>
          <a:stretch>
            <a:fillRect/>
          </a:stretch>
        </p:blipFill>
        <p:spPr>
          <a:xfrm>
            <a:off x="3300761" y="2980944"/>
            <a:ext cx="2628771" cy="1626225"/>
          </a:xfrm>
          <a:prstGeom prst="rect">
            <a:avLst/>
          </a:prstGeom>
        </p:spPr>
      </p:pic>
      <p:pic>
        <p:nvPicPr>
          <p:cNvPr id="25" name="Picture 24">
            <a:extLst>
              <a:ext uri="{FF2B5EF4-FFF2-40B4-BE49-F238E27FC236}">
                <a16:creationId xmlns:a16="http://schemas.microsoft.com/office/drawing/2014/main" id="{316571C0-BBEF-417E-02BD-9A960888FFAB}"/>
              </a:ext>
            </a:extLst>
          </p:cNvPr>
          <p:cNvPicPr>
            <a:picLocks noChangeAspect="1"/>
          </p:cNvPicPr>
          <p:nvPr/>
        </p:nvPicPr>
        <p:blipFill>
          <a:blip r:embed="rId5"/>
          <a:stretch>
            <a:fillRect/>
          </a:stretch>
        </p:blipFill>
        <p:spPr>
          <a:xfrm>
            <a:off x="6241198" y="2980943"/>
            <a:ext cx="2628482" cy="16262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Video of Project Demo</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sp>
      <p:sp>
        <p:nvSpPr>
          <p:cNvPr id="7" name="Shape 5"/>
          <p:cNvSpPr/>
          <p:nvPr/>
        </p:nvSpPr>
        <p:spPr>
          <a:xfrm>
            <a:off x="365760" y="685800"/>
            <a:ext cx="8412480" cy="384048"/>
          </a:xfrm>
          <a:prstGeom prst="rect">
            <a:avLst/>
          </a:prstGeom>
          <a:solidFill>
            <a:srgbClr val="E0E0E0"/>
          </a:solidFill>
          <a:ln/>
        </p:spPr>
      </p:sp>
      <p:sp>
        <p:nvSpPr>
          <p:cNvPr id="8" name="Shape 6"/>
          <p:cNvSpPr/>
          <p:nvPr/>
        </p:nvSpPr>
        <p:spPr>
          <a:xfrm>
            <a:off x="502920" y="777240"/>
            <a:ext cx="164592" cy="164592"/>
          </a:xfrm>
          <a:prstGeom prst="ellipse">
            <a:avLst/>
          </a:prstGeom>
          <a:solidFill>
            <a:srgbClr val="FF5F57"/>
          </a:solidFill>
          <a:ln/>
        </p:spPr>
      </p:sp>
      <p:sp>
        <p:nvSpPr>
          <p:cNvPr id="9" name="Shape 7"/>
          <p:cNvSpPr/>
          <p:nvPr/>
        </p:nvSpPr>
        <p:spPr>
          <a:xfrm>
            <a:off x="731520" y="777240"/>
            <a:ext cx="164592" cy="164592"/>
          </a:xfrm>
          <a:prstGeom prst="ellipse">
            <a:avLst/>
          </a:prstGeom>
          <a:solidFill>
            <a:srgbClr val="FEBC2E"/>
          </a:solidFill>
          <a:ln/>
        </p:spPr>
      </p:sp>
      <p:sp>
        <p:nvSpPr>
          <p:cNvPr id="10" name="Shape 8"/>
          <p:cNvSpPr/>
          <p:nvPr/>
        </p:nvSpPr>
        <p:spPr>
          <a:xfrm>
            <a:off x="960120" y="777240"/>
            <a:ext cx="164592" cy="164592"/>
          </a:xfrm>
          <a:prstGeom prst="ellipse">
            <a:avLst/>
          </a:prstGeom>
          <a:solidFill>
            <a:srgbClr val="28C840"/>
          </a:solidFill>
          <a:ln/>
        </p:spPr>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a:solidFill>
                  <a:srgbClr val="607D8B"/>
                </a:solidFill>
                <a:latin typeface="Calibri" pitchFamily="34" charset="0"/>
                <a:ea typeface="Calibri" pitchFamily="34" charset="-122"/>
                <a:cs typeface="Calibri" pitchFamily="34" charset="-120"/>
              </a:rPr>
              <a:t>[https://your-project-demo-link.com]</a:t>
            </a:r>
            <a:endParaRPr lang="en-US" sz="900"/>
          </a:p>
        </p:txBody>
      </p:sp>
      <p:sp>
        <p:nvSpPr>
          <p:cNvPr id="13" name="Shape 11"/>
          <p:cNvSpPr/>
          <p:nvPr/>
        </p:nvSpPr>
        <p:spPr>
          <a:xfrm>
            <a:off x="3749040" y="1828800"/>
            <a:ext cx="1645920" cy="1645920"/>
          </a:xfrm>
          <a:prstGeom prst="ellipse">
            <a:avLst/>
          </a:prstGeom>
          <a:solidFill>
            <a:srgbClr val="1B3A8A">
              <a:alpha val="80000"/>
            </a:srgbClr>
          </a:solidFill>
          <a:ln/>
        </p:spPr>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a:solidFill>
                  <a:srgbClr val="FFFFFF"/>
                </a:solidFill>
              </a:rPr>
              <a:t>▶</a:t>
            </a:r>
            <a:endParaRPr lang="en-US" sz="480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a:solidFill>
                  <a:srgbClr val="607D8B"/>
                </a:solidFill>
                <a:latin typeface="Calibri" pitchFamily="34" charset="0"/>
                <a:ea typeface="Calibri" pitchFamily="34" charset="-122"/>
                <a:cs typeface="Calibri" pitchFamily="34" charset="-120"/>
              </a:rPr>
              <a:t>[Insert your project demo video.</a:t>
            </a:r>
            <a:endParaRPr lang="en-US" sz="1100"/>
          </a:p>
          <a:p>
            <a:pPr marL="0" indent="0" algn="ctr">
              <a:buNone/>
            </a:pPr>
            <a:r>
              <a:rPr lang="en-US" sz="1100" i="1">
                <a:solidFill>
                  <a:srgbClr val="607D8B"/>
                </a:solidFill>
                <a:latin typeface="Calibri" pitchFamily="34" charset="0"/>
                <a:ea typeface="Calibri" pitchFamily="34" charset="-122"/>
                <a:cs typeface="Calibri" pitchFamily="34" charset="-120"/>
              </a:rPr>
              <a:t>You can embed a video your live project.]</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Conclusion</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4754880" y="123444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Abstract of the Project</a:t>
            </a:r>
            <a:endParaRPr lang="en-US" sz="1150"/>
          </a:p>
        </p:txBody>
      </p:sp>
      <p:sp>
        <p:nvSpPr>
          <p:cNvPr id="7" name="Text 5"/>
          <p:cNvSpPr/>
          <p:nvPr/>
        </p:nvSpPr>
        <p:spPr>
          <a:xfrm>
            <a:off x="4754880" y="163677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Problem Statement</a:t>
            </a:r>
            <a:endParaRPr lang="en-US" sz="1150"/>
          </a:p>
        </p:txBody>
      </p:sp>
      <p:sp>
        <p:nvSpPr>
          <p:cNvPr id="8" name="Text 6"/>
          <p:cNvSpPr/>
          <p:nvPr/>
        </p:nvSpPr>
        <p:spPr>
          <a:xfrm>
            <a:off x="4754880" y="203911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Proposed Solution</a:t>
            </a:r>
            <a:endParaRPr lang="en-US" sz="1150"/>
          </a:p>
        </p:txBody>
      </p:sp>
      <p:sp>
        <p:nvSpPr>
          <p:cNvPr id="9" name="Text 7"/>
          <p:cNvSpPr/>
          <p:nvPr/>
        </p:nvSpPr>
        <p:spPr>
          <a:xfrm>
            <a:off x="4754880" y="2441448"/>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System Architecture</a:t>
            </a:r>
            <a:endParaRPr lang="en-US" sz="1150"/>
          </a:p>
        </p:txBody>
      </p:sp>
      <p:sp>
        <p:nvSpPr>
          <p:cNvPr id="10" name="Text 8"/>
          <p:cNvSpPr/>
          <p:nvPr/>
        </p:nvSpPr>
        <p:spPr>
          <a:xfrm>
            <a:off x="4754880" y="2843784"/>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Live Demo of the Project</a:t>
            </a:r>
            <a:endParaRPr lang="en-US" sz="1150"/>
          </a:p>
        </p:txBody>
      </p:sp>
      <p:sp>
        <p:nvSpPr>
          <p:cNvPr id="11" name="Text 9"/>
          <p:cNvSpPr/>
          <p:nvPr/>
        </p:nvSpPr>
        <p:spPr>
          <a:xfrm>
            <a:off x="4754880" y="324612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Embedded Video of Project</a:t>
            </a:r>
            <a:endParaRPr lang="en-US" sz="1150"/>
          </a:p>
        </p:txBody>
      </p:sp>
      <p:sp>
        <p:nvSpPr>
          <p:cNvPr id="12" name="Text 10"/>
          <p:cNvSpPr/>
          <p:nvPr/>
        </p:nvSpPr>
        <p:spPr>
          <a:xfrm>
            <a:off x="4754880" y="3648456"/>
            <a:ext cx="4206240" cy="384048"/>
          </a:xfrm>
          <a:prstGeom prst="rect">
            <a:avLst/>
          </a:prstGeom>
          <a:noFill/>
          <a:ln/>
        </p:spPr>
        <p:txBody>
          <a:bodyPr wrap="square" rtlCol="0" anchor="ctr"/>
          <a:lstStyle/>
          <a:p>
            <a:pPr marL="0" indent="0">
              <a:buNone/>
            </a:pPr>
            <a:r>
              <a:rPr lang="en-US" sz="1150" b="1">
                <a:solidFill>
                  <a:srgbClr val="1B3A8A"/>
                </a:solidFill>
                <a:latin typeface="Calibri" pitchFamily="34" charset="0"/>
                <a:ea typeface="Calibri" pitchFamily="34" charset="-122"/>
                <a:cs typeface="Calibri" pitchFamily="34" charset="-120"/>
              </a:rPr>
              <a:t>• Conclusion</a:t>
            </a:r>
            <a:endParaRPr lang="en-US" sz="1150"/>
          </a:p>
        </p:txBody>
      </p:sp>
      <p:sp>
        <p:nvSpPr>
          <p:cNvPr id="13" name="Text 11"/>
          <p:cNvSpPr/>
          <p:nvPr/>
        </p:nvSpPr>
        <p:spPr>
          <a:xfrm>
            <a:off x="4754880" y="405079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Future Scope</a:t>
            </a:r>
            <a:endParaRPr lang="en-US" sz="1150"/>
          </a:p>
        </p:txBody>
      </p:sp>
      <p:sp>
        <p:nvSpPr>
          <p:cNvPr id="14" name="Text 12"/>
          <p:cNvSpPr/>
          <p:nvPr/>
        </p:nvSpPr>
        <p:spPr>
          <a:xfrm>
            <a:off x="274320" y="1078992"/>
            <a:ext cx="4114800" cy="3474720"/>
          </a:xfrm>
          <a:prstGeom prst="rect">
            <a:avLst/>
          </a:prstGeom>
          <a:noFill/>
          <a:ln/>
        </p:spPr>
        <p:txBody>
          <a:bodyPr wrap="square" rtlCol="0" anchor="t"/>
          <a:lstStyle/>
          <a:p>
            <a:r>
              <a:rPr lang="en-US" sz="1600" dirty="0"/>
              <a:t>This project successfully demonstrated how raw sales data from Kaggle can be transformed into meaningful insights using Microsoft Excel and Power BI. Through effective data cleaning, preprocessing, and visualization, key patterns such as sales trends, top-performing products, and regional performance were identified. All project objectives were achieved by converting unstructured data into an interactive and insightful dashboard. The integration of Excel and Power BI improved accuracy, efficiency, and decision-making capabilities. Overall, this project highlights the importance of data analytics tools in generating valuable business intelligence.</a:t>
            </a:r>
            <a:endParaRPr lang="en-US" sz="1600" dirty="0">
              <a:latin typeface="Lato" panose="020F0502020204030203" pitchFamily="34" charset="0"/>
              <a:cs typeface="Arial" panose="020B0604020202020204" pitchFamily="34" charset="0"/>
            </a:endParaRPr>
          </a:p>
          <a:p>
            <a:pPr marL="0" indent="0">
              <a:buNone/>
            </a:pPr>
            <a:endParaRPr lang="en-US" sz="1300" dirty="0"/>
          </a:p>
        </p:txBody>
      </p:sp>
      <p:sp>
        <p:nvSpPr>
          <p:cNvPr id="15" name="Shape 13"/>
          <p:cNvSpPr/>
          <p:nvPr/>
        </p:nvSpPr>
        <p:spPr>
          <a:xfrm>
            <a:off x="4846320" y="777240"/>
            <a:ext cx="3931920" cy="3931920"/>
          </a:xfrm>
          <a:prstGeom prst="rect">
            <a:avLst/>
          </a:prstGeom>
          <a:solidFill>
            <a:srgbClr val="F7F9FC"/>
          </a:solidFill>
          <a:ln w="12700">
            <a:solidFill>
              <a:srgbClr val="ECEFF1"/>
            </a:solidFill>
            <a:prstDash val="solid"/>
          </a:ln>
        </p:spPr>
      </p:sp>
      <p:sp>
        <p:nvSpPr>
          <p:cNvPr id="16" name="Shape 14"/>
          <p:cNvSpPr/>
          <p:nvPr/>
        </p:nvSpPr>
        <p:spPr>
          <a:xfrm>
            <a:off x="5394960" y="1005840"/>
            <a:ext cx="2834640" cy="2834640"/>
          </a:xfrm>
          <a:prstGeom prst="ellipse">
            <a:avLst/>
          </a:prstGeom>
          <a:solidFill>
            <a:srgbClr val="1B3A8A"/>
          </a:solidFill>
          <a:ln/>
        </p:spPr>
      </p:sp>
      <p:sp>
        <p:nvSpPr>
          <p:cNvPr id="17" name="Text 15"/>
          <p:cNvSpPr/>
          <p:nvPr/>
        </p:nvSpPr>
        <p:spPr>
          <a:xfrm>
            <a:off x="5394960" y="1005840"/>
            <a:ext cx="2834640" cy="2194560"/>
          </a:xfrm>
          <a:prstGeom prst="rect">
            <a:avLst/>
          </a:prstGeom>
          <a:noFill/>
          <a:ln/>
        </p:spPr>
        <p:txBody>
          <a:bodyPr wrap="square" rtlCol="0" anchor="ctr"/>
          <a:lstStyle/>
          <a:p>
            <a:pPr marL="0" indent="0" algn="ctr">
              <a:buNone/>
            </a:pPr>
            <a:r>
              <a:rPr lang="en-US" sz="6000">
                <a:solidFill>
                  <a:srgbClr val="000000"/>
                </a:solidFill>
              </a:rPr>
              <a:t>✅</a:t>
            </a:r>
            <a:endParaRPr lang="en-US" sz="6000"/>
          </a:p>
        </p:txBody>
      </p:sp>
      <p:sp>
        <p:nvSpPr>
          <p:cNvPr id="18" name="Shape 16"/>
          <p:cNvSpPr/>
          <p:nvPr/>
        </p:nvSpPr>
        <p:spPr>
          <a:xfrm>
            <a:off x="5303520" y="3474720"/>
            <a:ext cx="3017520" cy="502920"/>
          </a:xfrm>
          <a:prstGeom prst="rect">
            <a:avLst/>
          </a:prstGeom>
          <a:solidFill>
            <a:srgbClr val="1565C0"/>
          </a:solidFill>
          <a:ln/>
        </p:spPr>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a:solidFill>
                  <a:srgbClr val="FFFFFF"/>
                </a:solidFill>
                <a:latin typeface="Calibri" pitchFamily="34" charset="0"/>
                <a:ea typeface="Calibri" pitchFamily="34" charset="-122"/>
                <a:cs typeface="Calibri" pitchFamily="34" charset="-120"/>
              </a:rPr>
              <a:t>CONCLUSION</a:t>
            </a:r>
            <a:endParaRPr 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Future Scope</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4754880" y="123444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Abstract of the Project</a:t>
            </a:r>
            <a:endParaRPr lang="en-US" sz="1150"/>
          </a:p>
        </p:txBody>
      </p:sp>
      <p:sp>
        <p:nvSpPr>
          <p:cNvPr id="7" name="Text 5"/>
          <p:cNvSpPr/>
          <p:nvPr/>
        </p:nvSpPr>
        <p:spPr>
          <a:xfrm>
            <a:off x="4754880" y="163677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Problem Statement</a:t>
            </a:r>
            <a:endParaRPr lang="en-US" sz="1150"/>
          </a:p>
        </p:txBody>
      </p:sp>
      <p:sp>
        <p:nvSpPr>
          <p:cNvPr id="8" name="Text 6"/>
          <p:cNvSpPr/>
          <p:nvPr/>
        </p:nvSpPr>
        <p:spPr>
          <a:xfrm>
            <a:off x="4754880" y="203911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Proposed Solution</a:t>
            </a:r>
            <a:endParaRPr lang="en-US" sz="1150"/>
          </a:p>
        </p:txBody>
      </p:sp>
      <p:sp>
        <p:nvSpPr>
          <p:cNvPr id="9" name="Text 7"/>
          <p:cNvSpPr/>
          <p:nvPr/>
        </p:nvSpPr>
        <p:spPr>
          <a:xfrm>
            <a:off x="4754880" y="2441448"/>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System Architecture</a:t>
            </a:r>
            <a:endParaRPr lang="en-US" sz="1150"/>
          </a:p>
        </p:txBody>
      </p:sp>
      <p:sp>
        <p:nvSpPr>
          <p:cNvPr id="10" name="Text 8"/>
          <p:cNvSpPr/>
          <p:nvPr/>
        </p:nvSpPr>
        <p:spPr>
          <a:xfrm>
            <a:off x="4754880" y="2843784"/>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Live Demo of the Project</a:t>
            </a:r>
            <a:endParaRPr lang="en-US" sz="1150"/>
          </a:p>
        </p:txBody>
      </p:sp>
      <p:sp>
        <p:nvSpPr>
          <p:cNvPr id="11" name="Text 9"/>
          <p:cNvSpPr/>
          <p:nvPr/>
        </p:nvSpPr>
        <p:spPr>
          <a:xfrm>
            <a:off x="4754880" y="324612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Embedded Video of Project</a:t>
            </a:r>
            <a:endParaRPr lang="en-US" sz="1150"/>
          </a:p>
        </p:txBody>
      </p:sp>
      <p:sp>
        <p:nvSpPr>
          <p:cNvPr id="12" name="Text 10"/>
          <p:cNvSpPr/>
          <p:nvPr/>
        </p:nvSpPr>
        <p:spPr>
          <a:xfrm>
            <a:off x="4754880" y="364845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Conclusion</a:t>
            </a:r>
            <a:endParaRPr lang="en-US" sz="1150"/>
          </a:p>
        </p:txBody>
      </p:sp>
      <p:sp>
        <p:nvSpPr>
          <p:cNvPr id="13" name="Text 11"/>
          <p:cNvSpPr/>
          <p:nvPr/>
        </p:nvSpPr>
        <p:spPr>
          <a:xfrm>
            <a:off x="4754880" y="4050792"/>
            <a:ext cx="4206240" cy="384048"/>
          </a:xfrm>
          <a:prstGeom prst="rect">
            <a:avLst/>
          </a:prstGeom>
          <a:noFill/>
          <a:ln/>
        </p:spPr>
        <p:txBody>
          <a:bodyPr wrap="square" rtlCol="0" anchor="ctr"/>
          <a:lstStyle/>
          <a:p>
            <a:pPr marL="0" indent="0">
              <a:buNone/>
            </a:pPr>
            <a:r>
              <a:rPr lang="en-US" sz="1150" b="1">
                <a:solidFill>
                  <a:srgbClr val="1B3A8A"/>
                </a:solidFill>
                <a:latin typeface="Calibri" pitchFamily="34" charset="0"/>
                <a:ea typeface="Calibri" pitchFamily="34" charset="-122"/>
                <a:cs typeface="Calibri" pitchFamily="34" charset="-120"/>
              </a:rPr>
              <a:t>• Future Scope</a:t>
            </a:r>
            <a:endParaRPr lang="en-US" sz="1150"/>
          </a:p>
        </p:txBody>
      </p:sp>
      <p:sp>
        <p:nvSpPr>
          <p:cNvPr id="14" name="Text 12"/>
          <p:cNvSpPr/>
          <p:nvPr/>
        </p:nvSpPr>
        <p:spPr>
          <a:xfrm>
            <a:off x="457200" y="1234440"/>
            <a:ext cx="4114800" cy="3474720"/>
          </a:xfrm>
          <a:prstGeom prst="rect">
            <a:avLst/>
          </a:prstGeom>
          <a:noFill/>
          <a:ln/>
        </p:spPr>
        <p:txBody>
          <a:bodyPr wrap="square" rtlCol="0" anchor="t"/>
          <a:lstStyle/>
          <a:p>
            <a:r>
              <a:rPr lang="en-US" sz="1600" dirty="0"/>
              <a:t>This project can be further enhanced by integrating real-time data sources such as APIs to provide live sales updates and dynamic dashboards. Advanced analytics techniques like predictive modeling and forecasting can be applied to identify future sales trends. The dashboard can be expanded using tools like Power BI Service for cloud sharing and collaboration. Additionally, automation using AI tools like Copilot can improve efficiency in report generation. The project can also be scaled to handle larger datasets and applied to different business domains for broader impact.</a:t>
            </a:r>
            <a:endParaRPr lang="en-US" sz="1600" dirty="0">
              <a:latin typeface="Lato" panose="020F0502020204030203" pitchFamily="34" charset="0"/>
              <a:cs typeface="Arial" panose="020B0604020202020204" pitchFamily="34" charset="0"/>
            </a:endParaRPr>
          </a:p>
          <a:p>
            <a:pPr marL="0" indent="0">
              <a:buNone/>
            </a:pPr>
            <a:endParaRPr lang="en-US" sz="1300" dirty="0"/>
          </a:p>
        </p:txBody>
      </p:sp>
      <p:sp>
        <p:nvSpPr>
          <p:cNvPr id="15" name="Shape 13"/>
          <p:cNvSpPr/>
          <p:nvPr/>
        </p:nvSpPr>
        <p:spPr>
          <a:xfrm>
            <a:off x="4846320" y="777240"/>
            <a:ext cx="3931920" cy="3931920"/>
          </a:xfrm>
          <a:prstGeom prst="rect">
            <a:avLst/>
          </a:prstGeom>
          <a:solidFill>
            <a:srgbClr val="F7F9FC"/>
          </a:solidFill>
          <a:ln w="12700">
            <a:solidFill>
              <a:srgbClr val="ECEFF1"/>
            </a:solidFill>
            <a:prstDash val="solid"/>
          </a:ln>
        </p:spPr>
      </p:sp>
      <p:sp>
        <p:nvSpPr>
          <p:cNvPr id="16" name="Text 14"/>
          <p:cNvSpPr/>
          <p:nvPr/>
        </p:nvSpPr>
        <p:spPr>
          <a:xfrm>
            <a:off x="4846320" y="914400"/>
            <a:ext cx="3931920" cy="2926080"/>
          </a:xfrm>
          <a:prstGeom prst="rect">
            <a:avLst/>
          </a:prstGeom>
          <a:noFill/>
          <a:ln/>
        </p:spPr>
        <p:txBody>
          <a:bodyPr wrap="square" rtlCol="0" anchor="ctr"/>
          <a:lstStyle/>
          <a:p>
            <a:pPr marL="0" indent="0" algn="ctr">
              <a:buNone/>
            </a:pPr>
            <a:r>
              <a:rPr lang="en-US" sz="10000">
                <a:solidFill>
                  <a:srgbClr val="000000"/>
                </a:solidFill>
              </a:rPr>
              <a:t>🧠</a:t>
            </a:r>
            <a:endParaRPr lang="en-US" sz="10000"/>
          </a:p>
        </p:txBody>
      </p:sp>
      <p:sp>
        <p:nvSpPr>
          <p:cNvPr id="17" name="Text 15"/>
          <p:cNvSpPr/>
          <p:nvPr/>
        </p:nvSpPr>
        <p:spPr>
          <a:xfrm>
            <a:off x="4846320" y="3703320"/>
            <a:ext cx="3931920" cy="320040"/>
          </a:xfrm>
          <a:prstGeom prst="rect">
            <a:avLst/>
          </a:prstGeom>
          <a:noFill/>
          <a:ln/>
        </p:spPr>
        <p:txBody>
          <a:bodyPr wrap="square" rtlCol="0" anchor="ctr"/>
          <a:lstStyle/>
          <a:p>
            <a:pPr marL="0" indent="0" algn="ctr">
              <a:buNone/>
            </a:pPr>
            <a:r>
              <a:rPr lang="en-US" sz="1000" i="1">
                <a:solidFill>
                  <a:srgbClr val="607D8B"/>
                </a:solidFill>
                <a:latin typeface="Calibri" pitchFamily="34" charset="0"/>
                <a:ea typeface="Calibri" pitchFamily="34" charset="-122"/>
                <a:cs typeface="Calibri" pitchFamily="34" charset="-120"/>
              </a:rPr>
              <a:t>[Future ideas &amp; roadmap]</a:t>
            </a:r>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6305973" y="45720"/>
            <a:ext cx="2746587"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914400" y="1371600"/>
            <a:ext cx="7315200" cy="1463040"/>
          </a:xfrm>
          <a:prstGeom prst="rect">
            <a:avLst/>
          </a:prstGeom>
          <a:noFill/>
          <a:ln/>
        </p:spPr>
        <p:txBody>
          <a:bodyPr wrap="square" rtlCol="0" anchor="ctr"/>
          <a:lstStyle/>
          <a:p>
            <a:pPr marL="0" indent="0" algn="ctr">
              <a:buNone/>
            </a:pPr>
            <a:r>
              <a:rPr lang="en-US" sz="7200" b="1">
                <a:solidFill>
                  <a:srgbClr val="1B3A8A"/>
                </a:solidFill>
                <a:latin typeface="Calibri" pitchFamily="34" charset="0"/>
                <a:ea typeface="Calibri" pitchFamily="34" charset="-122"/>
                <a:cs typeface="Calibri" pitchFamily="34" charset="-120"/>
              </a:rPr>
              <a:t>Thank You</a:t>
            </a:r>
            <a:endParaRPr lang="en-US" sz="7200"/>
          </a:p>
        </p:txBody>
      </p:sp>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a:solidFill>
                  <a:srgbClr val="1565C0"/>
                </a:solidFill>
                <a:latin typeface="Calibri" pitchFamily="34" charset="0"/>
                <a:ea typeface="Calibri" pitchFamily="34" charset="-122"/>
                <a:cs typeface="Calibri" pitchFamily="34" charset="-120"/>
              </a:rPr>
              <a:t>AICW Fellowship  |  Student Project Presentation 2026</a:t>
            </a:r>
            <a:endParaRPr lang="en-US" sz="1400"/>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a:solidFill>
                  <a:srgbClr val="607D8B"/>
                </a:solidFill>
                <a:latin typeface="Calibri"/>
                <a:ea typeface="Calibri"/>
                <a:cs typeface="Calibri"/>
              </a:rPr>
              <a:t>  LinkedIn  |   Edunet Foundation</a:t>
            </a:r>
            <a:endParaRPr lang="en-US" sz="1100"/>
          </a:p>
        </p:txBody>
      </p:sp>
      <p:sp>
        <p:nvSpPr>
          <p:cNvPr id="7" name="Shape 5"/>
          <p:cNvSpPr/>
          <p:nvPr/>
        </p:nvSpPr>
        <p:spPr>
          <a:xfrm>
            <a:off x="0" y="4983480"/>
            <a:ext cx="9144000" cy="160020"/>
          </a:xfrm>
          <a:prstGeom prst="rect">
            <a:avLst/>
          </a:prstGeom>
          <a:solidFill>
            <a:srgbClr val="1B3A8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835</Words>
  <Application>Microsoft Office PowerPoint</Application>
  <PresentationFormat>On-screen Show (16:9)</PresentationFormat>
  <Paragraphs>117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Amar Nadkar</cp:lastModifiedBy>
  <cp:revision>2</cp:revision>
  <dcterms:created xsi:type="dcterms:W3CDTF">2026-02-18T09:17:23Z</dcterms:created>
  <dcterms:modified xsi:type="dcterms:W3CDTF">2026-04-10T18:29:27Z</dcterms:modified>
</cp:coreProperties>
</file>